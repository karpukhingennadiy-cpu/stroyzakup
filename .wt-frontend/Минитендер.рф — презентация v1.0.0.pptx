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 type="custom"/>
  <p:notesSz cx="12192000" cy="6858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1016000" y="1524000"/>
            <a:ext cx="76200" cy="2540000"/>
          </a:xfrm>
          <a:prstGeom prst="rect">
            <a:avLst/>
          </a:prstGeom>
          <a:solidFill>
            <a:srgbClr val="F0A500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1397000" y="1498600"/>
            <a:ext cx="889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400" b="1" spc="200" kern="0">
                <a:solidFill>
                  <a:srgbClr val="B97A00"/>
                </a:solidFill>
                <a:latin typeface="MiSans"/>
                <a:ea typeface="MiSans"/>
              </a:rPr>
              <a:t>РЕЛИЗ v1.0.0 · 30 ИЮЛЯ 2026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1346200" y="1879600"/>
            <a:ext cx="9652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5400" b="1">
                <a:solidFill>
                  <a:srgbClr val="1A1A2E"/>
                </a:solidFill>
                <a:latin typeface="MiSans"/>
                <a:ea typeface="MiSans"/>
              </a:rPr>
              <a:t>Минитендер.рф</a:t>
            </a:r>
            <a:endParaRPr lang="en-US" sz="5400"/>
          </a:p>
        </p:txBody>
      </p:sp>
      <p:sp>
        <p:nvSpPr>
          <p:cNvPr id="5" name="subtitle"/>
          <p:cNvSpPr txBox="1"/>
          <p:nvPr/>
        </p:nvSpPr>
        <p:spPr>
          <a:xfrm>
            <a:off x="1397000" y="29972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2000">
                <a:solidFill>
                  <a:srgbClr val="333A47"/>
                </a:solidFill>
                <a:latin typeface="MiSans"/>
                <a:ea typeface="MiSans"/>
              </a:rPr>
              <a:t>Платформа мини-тендеров на стройматериалы.</a:t>
            </a:r>
            <a:endParaRPr lang="en-US" sz="2000"/>
          </a:p>
          <a:p>
            <a:pPr>
              <a:lnSpc>
                <a:spcPct val="140000"/>
              </a:lnSpc>
            </a:pPr>
            <a:r>
              <a:rPr lang="en-US" sz="2000">
                <a:solidFill>
                  <a:srgbClr val="333A47"/>
                </a:solidFill>
                <a:latin typeface="MiSans"/>
                <a:ea typeface="MiSans"/>
              </a:rPr>
              <a:t>От текста заявки до конкурентного листа — за минуты, без звонков.</a:t>
            </a:r>
            <a:endParaRPr lang="en-US" sz="2000"/>
          </a:p>
        </p:txBody>
      </p:sp>
      <p:sp>
        <p:nvSpPr>
          <p:cNvPr id="6" name="divider"/>
          <p:cNvSpPr/>
          <p:nvPr/>
        </p:nvSpPr>
        <p:spPr>
          <a:xfrm>
            <a:off x="1397000" y="4191000"/>
            <a:ext cx="9398000" cy="12700"/>
          </a:xfrm>
          <a:prstGeom prst="rect">
            <a:avLst/>
          </a:prstGeom>
          <a:solidFill>
            <a:srgbClr val="D9DEE6"/>
          </a:solidFill>
          <a:ln>
            <a:noFill/>
          </a:ln>
        </p:spPr>
      </p:sp>
      <p:sp>
        <p:nvSpPr>
          <p:cNvPr id="7" name="stat1-label"/>
          <p:cNvSpPr txBox="1"/>
          <p:nvPr/>
        </p:nvSpPr>
        <p:spPr>
          <a:xfrm>
            <a:off x="1397000" y="4470400"/>
            <a:ext cx="215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A1A2E"/>
                </a:solidFill>
                <a:latin typeface="MiSans"/>
                <a:ea typeface="MiSans"/>
              </a:rPr>
              <a:t>35</a:t>
            </a:r>
            <a:endParaRPr lang="en-US" sz="2600"/>
          </a:p>
        </p:txBody>
      </p:sp>
      <p:sp>
        <p:nvSpPr>
          <p:cNvPr id="8" name="stat1-desc"/>
          <p:cNvSpPr txBox="1"/>
          <p:nvPr/>
        </p:nvSpPr>
        <p:spPr>
          <a:xfrm>
            <a:off x="1397000" y="4851400"/>
            <a:ext cx="215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поставщиков в базе с полным ассортиментом</a:t>
            </a:r>
            <a:endParaRPr lang="en-US" sz="1100"/>
          </a:p>
        </p:txBody>
      </p:sp>
      <p:sp>
        <p:nvSpPr>
          <p:cNvPr id="9" name="stat2-label"/>
          <p:cNvSpPr txBox="1"/>
          <p:nvPr/>
        </p:nvSpPr>
        <p:spPr>
          <a:xfrm>
            <a:off x="3810000" y="4470400"/>
            <a:ext cx="215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A1A2E"/>
                </a:solidFill>
                <a:latin typeface="MiSans"/>
                <a:ea typeface="MiSans"/>
              </a:rPr>
              <a:t>30</a:t>
            </a:r>
            <a:endParaRPr lang="en-US" sz="2600"/>
          </a:p>
        </p:txBody>
      </p:sp>
      <p:sp>
        <p:nvSpPr>
          <p:cNvPr id="10" name="stat2-desc"/>
          <p:cNvSpPr txBox="1"/>
          <p:nvPr/>
        </p:nvSpPr>
        <p:spPr>
          <a:xfrm>
            <a:off x="3810000" y="4851400"/>
            <a:ext cx="215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категорий стройматериалов</a:t>
            </a:r>
            <a:endParaRPr lang="en-US" sz="1100"/>
          </a:p>
        </p:txBody>
      </p:sp>
      <p:sp>
        <p:nvSpPr>
          <p:cNvPr id="11" name="stat3-label"/>
          <p:cNvSpPr txBox="1"/>
          <p:nvPr/>
        </p:nvSpPr>
        <p:spPr>
          <a:xfrm>
            <a:off x="6223000" y="4470400"/>
            <a:ext cx="215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A1A2E"/>
                </a:solidFill>
                <a:latin typeface="MiSans"/>
                <a:ea typeface="MiSans"/>
              </a:rPr>
              <a:t>5</a:t>
            </a:r>
            <a:endParaRPr lang="en-US" sz="2600"/>
          </a:p>
        </p:txBody>
      </p:sp>
      <p:sp>
        <p:nvSpPr>
          <p:cNvPr id="12" name="stat3-desc"/>
          <p:cNvSpPr txBox="1"/>
          <p:nvPr/>
        </p:nvSpPr>
        <p:spPr>
          <a:xfrm>
            <a:off x="6223000" y="4851400"/>
            <a:ext cx="215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внешних сервисов подключено и проверено</a:t>
            </a:r>
            <a:endParaRPr lang="en-US" sz="1100"/>
          </a:p>
        </p:txBody>
      </p:sp>
      <p:sp>
        <p:nvSpPr>
          <p:cNvPr id="13" name="stat4-label"/>
          <p:cNvSpPr txBox="1"/>
          <p:nvPr/>
        </p:nvSpPr>
        <p:spPr>
          <a:xfrm>
            <a:off x="8636000" y="4470400"/>
            <a:ext cx="215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E9E57"/>
                </a:solidFill>
                <a:latin typeface="MiSans"/>
                <a:ea typeface="MiSans"/>
              </a:rPr>
              <a:t>30/30</a:t>
            </a:r>
            <a:endParaRPr lang="en-US" sz="2600"/>
          </a:p>
        </p:txBody>
      </p:sp>
      <p:sp>
        <p:nvSpPr>
          <p:cNvPr id="14" name="stat4-desc"/>
          <p:cNvSpPr txBox="1"/>
          <p:nvPr/>
        </p:nvSpPr>
        <p:spPr>
          <a:xfrm>
            <a:off x="8636000" y="4851400"/>
            <a:ext cx="215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автотестов backend проходят</a:t>
            </a:r>
            <a:endParaRPr lang="en-US" sz="1100"/>
          </a:p>
        </p:txBody>
      </p:sp>
      <p:sp>
        <p:nvSpPr>
          <p:cNvPr id="15" name="footer"/>
          <p:cNvSpPr txBox="1"/>
          <p:nvPr/>
        </p:nvSpPr>
        <p:spPr>
          <a:xfrm>
            <a:off x="1016000" y="62865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Django 5 + DRF · Next.js 15 · SQLite · DeepSeek · DaData · 2GIS · Яндекс.Геокодер · SMTP BeGet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62000" y="4572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A1A2E"/>
                </a:solidFill>
                <a:latin typeface="MiSans"/>
                <a:ea typeface="MiSans"/>
              </a:rPr>
              <a:t>Какую задачу решает платформа</a:t>
            </a:r>
            <a:endParaRPr lang="en-US" sz="2700"/>
          </a:p>
        </p:txBody>
      </p:sp>
      <p:sp>
        <p:nvSpPr>
          <p:cNvPr id="3" name="title-bar"/>
          <p:cNvSpPr/>
          <p:nvPr/>
        </p:nvSpPr>
        <p:spPr>
          <a:xfrm>
            <a:off x="762000" y="1016000"/>
            <a:ext cx="609600" cy="38100"/>
          </a:xfrm>
          <a:prstGeom prst="rect">
            <a:avLst/>
          </a:prstGeom>
          <a:solidFill>
            <a:srgbClr val="F0A500"/>
          </a:solidFill>
          <a:ln>
            <a:noFill/>
          </a:ln>
        </p:spPr>
      </p:sp>
      <p:sp>
        <p:nvSpPr>
          <p:cNvPr id="4" name="left-head"/>
          <p:cNvSpPr txBox="1"/>
          <p:nvPr/>
        </p:nvSpPr>
        <p:spPr>
          <a:xfrm>
            <a:off x="762000" y="13716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A1A2E"/>
                </a:solidFill>
                <a:latin typeface="MiSans"/>
                <a:ea typeface="MiSans"/>
              </a:rPr>
              <a:t>Было: закупка вручную</a:t>
            </a:r>
            <a:endParaRPr lang="en-US" sz="1600"/>
          </a:p>
        </p:txBody>
      </p:sp>
      <p:sp>
        <p:nvSpPr>
          <p:cNvPr id="5" name="left-body"/>
          <p:cNvSpPr txBox="1"/>
          <p:nvPr/>
        </p:nvSpPr>
        <p:spPr>
          <a:xfrm>
            <a:off x="762000" y="1778000"/>
            <a:ext cx="5080000" cy="317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Обзвон поставщиков.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Менеджер тратит часы, чтобы найти, кто продаёт нужный материал рядом с объектом.</a:t>
            </a:r>
            <a:endParaRPr lang="en-US" sz="1300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Цены в сообщениях.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КП приходят в мессенджеры и почту вразнобой — сравнивать неудобно, условия теряются.</a:t>
            </a:r>
            <a:endParaRPr lang="en-US" sz="1300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Нет формализации.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«Брусчатка 200×100×60» у каждого поставщика понимается по-своему, цены несопоставимы.</a:t>
            </a:r>
            <a:endParaRPr lang="en-US" sz="1300"/>
          </a:p>
        </p:txBody>
      </p:sp>
      <p:sp>
        <p:nvSpPr>
          <p:cNvPr id="6" name="right-head"/>
          <p:cNvSpPr txBox="1"/>
          <p:nvPr/>
        </p:nvSpPr>
        <p:spPr>
          <a:xfrm>
            <a:off x="6604000" y="13716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A1A2E"/>
                </a:solidFill>
                <a:latin typeface="MiSans"/>
                <a:ea typeface="MiSans"/>
              </a:rPr>
              <a:t>Стало: тендер за 4 минуты</a:t>
            </a:r>
            <a:endParaRPr lang="en-US" sz="1600"/>
          </a:p>
        </p:txBody>
      </p:sp>
      <p:sp>
        <p:nvSpPr>
          <p:cNvPr id="7" name="right-body"/>
          <p:cNvSpPr txBox="1"/>
          <p:nvPr/>
        </p:nvSpPr>
        <p:spPr>
          <a:xfrm>
            <a:off x="6604000" y="1778000"/>
            <a:ext cx="5080000" cy="317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Текст → структура.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LLM распознаёт позиции, характеристики и сама спрашивает, чего не хватает для точной цены.</a:t>
            </a:r>
            <a:endParaRPr lang="en-US" sz="1300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Автоподбор.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Система находит поставщиков рядом с объектом, у которых этот материал реально есть в ассортименте.</a:t>
            </a:r>
            <a:endParaRPr lang="en-US" sz="1300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Единая форма КП.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Все отвечают через одну форму — цены сопоставимы, конкурентный лист собирается автоматически.</a:t>
            </a:r>
            <a:endParaRPr lang="en-US" sz="1300"/>
          </a:p>
        </p:txBody>
      </p:sp>
      <p:sp>
        <p:nvSpPr>
          <p:cNvPr id="8" name="divider-v"/>
          <p:cNvSpPr/>
          <p:nvPr/>
        </p:nvSpPr>
        <p:spPr>
          <a:xfrm>
            <a:off x="6096000" y="1371600"/>
            <a:ext cx="12700" cy="3175000"/>
          </a:xfrm>
          <a:prstGeom prst="rect">
            <a:avLst/>
          </a:prstGeom>
          <a:solidFill>
            <a:srgbClr val="D9DEE6"/>
          </a:solidFill>
          <a:ln>
            <a:noFill/>
          </a:ln>
        </p:spPr>
      </p:sp>
      <p:sp>
        <p:nvSpPr>
          <p:cNvPr id="9" name="bottom-rule"/>
          <p:cNvSpPr/>
          <p:nvPr/>
        </p:nvSpPr>
        <p:spPr>
          <a:xfrm>
            <a:off x="762000" y="5207000"/>
            <a:ext cx="10668000" cy="12700"/>
          </a:xfrm>
          <a:prstGeom prst="rect">
            <a:avLst/>
          </a:prstGeom>
          <a:solidFill>
            <a:srgbClr val="D9DEE6"/>
          </a:solidFill>
          <a:ln>
            <a:noFill/>
          </a:ln>
        </p:spPr>
      </p:sp>
      <p:sp>
        <p:nvSpPr>
          <p:cNvPr id="10" name="bottom-note"/>
          <p:cNvSpPr txBox="1"/>
          <p:nvPr/>
        </p:nvSpPr>
        <p:spPr>
          <a:xfrm>
            <a:off x="762000" y="53848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1400" b="1">
                <a:solidFill>
                  <a:srgbClr val="1A1A2E"/>
                </a:solidFill>
                <a:latin typeface="MiSans"/>
                <a:ea typeface="MiSans"/>
              </a:rPr>
              <a:t>Принцип:</a:t>
            </a:r>
            <a:r>
              <a:rPr lang="en-US" sz="1400">
                <a:solidFill>
                  <a:srgbClr val="1A1A2E"/>
                </a:solidFill>
                <a:latin typeface="MiSans"/>
                <a:ea typeface="MiSans"/>
              </a:rPr>
              <a:t> заказчик описывает потребность своими словами — дальше система сама структурирует, подбирает, рассылает и сравнивает. Ручная работа остаётся только там, где нужно решение человека.</a:t>
            </a:r>
            <a:endParaRPr lang="en-US" sz="1400"/>
          </a:p>
        </p:txBody>
      </p:sp>
      <p:sp>
        <p:nvSpPr>
          <p:cNvPr id="11" name="footer"/>
          <p:cNvSpPr txBox="1"/>
          <p:nvPr/>
        </p:nvSpPr>
        <p:spPr>
          <a:xfrm>
            <a:off x="762000" y="64135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Минитендер.рф · v1.0.0</a:t>
            </a:r>
            <a:endParaRPr lang="en-US" sz="1100"/>
          </a:p>
        </p:txBody>
      </p:sp>
      <p:sp>
        <p:nvSpPr>
          <p:cNvPr id="12" name="pagenum"/>
          <p:cNvSpPr txBox="1"/>
          <p:nvPr/>
        </p:nvSpPr>
        <p:spPr>
          <a:xfrm>
            <a:off x="11176000" y="64135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r"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62000" y="4572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A1A2E"/>
                </a:solidFill>
                <a:latin typeface="MiSans"/>
                <a:ea typeface="MiSans"/>
              </a:rPr>
              <a:t>Полный цикл: от текста до выбора поставщика</a:t>
            </a:r>
            <a:endParaRPr lang="en-US" sz="2700"/>
          </a:p>
        </p:txBody>
      </p:sp>
      <p:sp>
        <p:nvSpPr>
          <p:cNvPr id="3" name="title-bar"/>
          <p:cNvSpPr/>
          <p:nvPr/>
        </p:nvSpPr>
        <p:spPr>
          <a:xfrm>
            <a:off x="762000" y="1016000"/>
            <a:ext cx="609600" cy="38100"/>
          </a:xfrm>
          <a:prstGeom prst="rect">
            <a:avLst/>
          </a:prstGeom>
          <a:solidFill>
            <a:srgbClr val="F0A500"/>
          </a:solidFill>
          <a:ln>
            <a:noFill/>
          </a:ln>
        </p:spPr>
      </p:sp>
      <p:sp>
        <p:nvSpPr>
          <p:cNvPr id="4" name="n1-box"/>
          <p:cNvSpPr/>
          <p:nvPr/>
        </p:nvSpPr>
        <p:spPr>
          <a:xfrm>
            <a:off x="508000" y="1651000"/>
            <a:ext cx="1778000" cy="1143000"/>
          </a:xfrm>
          <a:prstGeom prst="rect">
            <a:avLst/>
          </a:prstGeom>
          <a:solidFill>
            <a:srgbClr val="F5F6F8"/>
          </a:solidFill>
          <a:ln w="12700">
            <a:solidFill>
              <a:srgbClr val="1A1A2E"/>
            </a:solidFill>
          </a:ln>
        </p:spPr>
      </p:sp>
      <p:sp>
        <p:nvSpPr>
          <p:cNvPr id="5" name="n1-txt"/>
          <p:cNvSpPr txBox="1"/>
          <p:nvPr/>
        </p:nvSpPr>
        <p:spPr>
          <a:xfrm>
            <a:off x="609600" y="1905000"/>
            <a:ext cx="1600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1A1A2E"/>
                </a:solidFill>
                <a:latin typeface="MiSans"/>
                <a:ea typeface="MiSans"/>
              </a:rPr>
              <a:t>01 · Текст заявки своими словами</a:t>
            </a:r>
            <a:endParaRPr lang="en-US" sz="1250"/>
          </a:p>
        </p:txBody>
      </p:sp>
      <p:sp>
        <p:nvSpPr>
          <p:cNvPr id="6" name="a1"/>
          <p:cNvSpPr/>
          <p:nvPr>
            <p:extLst>
              <p:ext uri="{F5677B7D-0D2A-4D9B-9A5C-6D8D7D0E5A5D}">
                <pptd:line encoding="base64url">eyJjdXJ2ZSI6InJvdW5kIiwicG9pbnRzIjoiMCwzIDI0LDMiLCJ2aWV3Qm94IjpbMjQsNl19</pptd:line>
              </p:ext>
            </p:extLst>
          </p:nvPr>
        </p:nvSpPr>
        <p:spPr>
          <a:xfrm>
            <a:off x="2311400" y="2184400"/>
            <a:ext cx="304800" cy="76200"/>
          </a:xfrm>
          <a:custGeom>
            <a:avLst/>
            <a:gdLst/>
            <a:ahLst/>
            <a:cxnLst/>
            <a:rect l="l" t="t" r="r" b="b"/>
            <a:pathLst>
              <a:path w="24" h="6">
                <a:moveTo>
                  <a:pt x="0" y="3"/>
                </a:moveTo>
                <a:lnTo>
                  <a:pt x="24" y="3"/>
                </a:lnTo>
              </a:path>
            </a:pathLst>
          </a:custGeom>
          <a:noFill/>
          <a:ln w="25400" cap="rnd">
            <a:solidFill>
              <a:srgbClr val="F0A500"/>
            </a:solidFill>
            <a:round/>
            <a:tailEnd type="arrow"/>
          </a:ln>
        </p:spPr>
      </p:sp>
      <p:sp>
        <p:nvSpPr>
          <p:cNvPr id="7" name="n2-box"/>
          <p:cNvSpPr/>
          <p:nvPr/>
        </p:nvSpPr>
        <p:spPr>
          <a:xfrm>
            <a:off x="2641600" y="1651000"/>
            <a:ext cx="1778000" cy="1143000"/>
          </a:xfrm>
          <a:prstGeom prst="rect">
            <a:avLst/>
          </a:prstGeom>
          <a:solidFill>
            <a:srgbClr val="F5F6F8"/>
          </a:solidFill>
          <a:ln w="12700">
            <a:solidFill>
              <a:srgbClr val="1A1A2E"/>
            </a:solidFill>
          </a:ln>
        </p:spPr>
      </p:sp>
      <p:sp>
        <p:nvSpPr>
          <p:cNvPr id="8" name="n2-txt"/>
          <p:cNvSpPr txBox="1"/>
          <p:nvPr/>
        </p:nvSpPr>
        <p:spPr>
          <a:xfrm>
            <a:off x="2743200" y="1905000"/>
            <a:ext cx="1600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1A1A2E"/>
                </a:solidFill>
                <a:latin typeface="MiSans"/>
                <a:ea typeface="MiSans"/>
              </a:rPr>
              <a:t>02 · LLM-парсинг позиций</a:t>
            </a:r>
            <a:endParaRPr lang="en-US" sz="1250"/>
          </a:p>
        </p:txBody>
      </p:sp>
      <p:sp>
        <p:nvSpPr>
          <p:cNvPr id="9" name="a2"/>
          <p:cNvSpPr/>
          <p:nvPr>
            <p:extLst>
              <p:ext uri="{F5677B7D-0D2A-4D9B-9A5C-6D8D7D0E5A5D}">
                <pptd:line encoding="base64url">eyJjdXJ2ZSI6InJvdW5kIiwicG9pbnRzIjoiMCwzIDI0LDMiLCJ2aWV3Qm94IjpbMjQsNl19</pptd:line>
              </p:ext>
            </p:extLst>
          </p:nvPr>
        </p:nvSpPr>
        <p:spPr>
          <a:xfrm>
            <a:off x="4445000" y="2184400"/>
            <a:ext cx="304800" cy="76200"/>
          </a:xfrm>
          <a:custGeom>
            <a:avLst/>
            <a:gdLst/>
            <a:ahLst/>
            <a:cxnLst/>
            <a:rect l="l" t="t" r="r" b="b"/>
            <a:pathLst>
              <a:path w="24" h="6">
                <a:moveTo>
                  <a:pt x="0" y="3"/>
                </a:moveTo>
                <a:lnTo>
                  <a:pt x="24" y="3"/>
                </a:lnTo>
              </a:path>
            </a:pathLst>
          </a:custGeom>
          <a:noFill/>
          <a:ln w="25400" cap="rnd">
            <a:solidFill>
              <a:srgbClr val="F0A500"/>
            </a:solidFill>
            <a:round/>
            <a:tailEnd type="arrow"/>
          </a:ln>
        </p:spPr>
      </p:sp>
      <p:sp>
        <p:nvSpPr>
          <p:cNvPr id="10" name="n3-box"/>
          <p:cNvSpPr/>
          <p:nvPr/>
        </p:nvSpPr>
        <p:spPr>
          <a:xfrm>
            <a:off x="4775200" y="1651000"/>
            <a:ext cx="1778000" cy="1143000"/>
          </a:xfrm>
          <a:prstGeom prst="rect">
            <a:avLst/>
          </a:prstGeom>
          <a:solidFill>
            <a:srgbClr val="F5F6F8"/>
          </a:solidFill>
          <a:ln w="12700">
            <a:solidFill>
              <a:srgbClr val="1A1A2E"/>
            </a:solidFill>
          </a:ln>
        </p:spPr>
      </p:sp>
      <p:sp>
        <p:nvSpPr>
          <p:cNvPr id="11" name="n3-txt"/>
          <p:cNvSpPr txBox="1"/>
          <p:nvPr/>
        </p:nvSpPr>
        <p:spPr>
          <a:xfrm>
            <a:off x="4876800" y="1905000"/>
            <a:ext cx="1600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1A1A2E"/>
                </a:solidFill>
                <a:latin typeface="MiSans"/>
                <a:ea typeface="MiSans"/>
              </a:rPr>
              <a:t>03 · Точка доставки на карте</a:t>
            </a:r>
            <a:endParaRPr lang="en-US" sz="1250"/>
          </a:p>
        </p:txBody>
      </p:sp>
      <p:sp>
        <p:nvSpPr>
          <p:cNvPr id="12" name="a3"/>
          <p:cNvSpPr/>
          <p:nvPr>
            <p:extLst>
              <p:ext uri="{F5677B7D-0D2A-4D9B-9A5C-6D8D7D0E5A5D}">
                <pptd:line encoding="base64url">eyJjdXJ2ZSI6InJvdW5kIiwicG9pbnRzIjoiMCwzIDI0LDMiLCJ2aWV3Qm94IjpbMjQsNl19</pptd:line>
              </p:ext>
            </p:extLst>
          </p:nvPr>
        </p:nvSpPr>
        <p:spPr>
          <a:xfrm>
            <a:off x="6578600" y="2184400"/>
            <a:ext cx="304800" cy="76200"/>
          </a:xfrm>
          <a:custGeom>
            <a:avLst/>
            <a:gdLst/>
            <a:ahLst/>
            <a:cxnLst/>
            <a:rect l="l" t="t" r="r" b="b"/>
            <a:pathLst>
              <a:path w="24" h="6">
                <a:moveTo>
                  <a:pt x="0" y="3"/>
                </a:moveTo>
                <a:lnTo>
                  <a:pt x="24" y="3"/>
                </a:lnTo>
              </a:path>
            </a:pathLst>
          </a:custGeom>
          <a:noFill/>
          <a:ln w="25400" cap="rnd">
            <a:solidFill>
              <a:srgbClr val="F0A500"/>
            </a:solidFill>
            <a:round/>
            <a:tailEnd type="arrow"/>
          </a:ln>
        </p:spPr>
      </p:sp>
      <p:sp>
        <p:nvSpPr>
          <p:cNvPr id="13" name="n4-box"/>
          <p:cNvSpPr/>
          <p:nvPr/>
        </p:nvSpPr>
        <p:spPr>
          <a:xfrm>
            <a:off x="6908800" y="1651000"/>
            <a:ext cx="1778000" cy="1143000"/>
          </a:xfrm>
          <a:prstGeom prst="rect">
            <a:avLst/>
          </a:prstGeom>
          <a:solidFill>
            <a:srgbClr val="F5F6F8"/>
          </a:solidFill>
          <a:ln w="12700">
            <a:solidFill>
              <a:srgbClr val="1A1A2E"/>
            </a:solidFill>
          </a:ln>
        </p:spPr>
      </p:sp>
      <p:sp>
        <p:nvSpPr>
          <p:cNvPr id="14" name="n4-txt"/>
          <p:cNvSpPr txBox="1"/>
          <p:nvPr/>
        </p:nvSpPr>
        <p:spPr>
          <a:xfrm>
            <a:off x="7010400" y="1905000"/>
            <a:ext cx="1600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1A1A2E"/>
                </a:solidFill>
                <a:latin typeface="MiSans"/>
                <a:ea typeface="MiSans"/>
              </a:rPr>
              <a:t>04 · Подбор и скоринг поставщиков</a:t>
            </a:r>
            <a:endParaRPr lang="en-US" sz="1250"/>
          </a:p>
        </p:txBody>
      </p:sp>
      <p:sp>
        <p:nvSpPr>
          <p:cNvPr id="15" name="a4"/>
          <p:cNvSpPr/>
          <p:nvPr>
            <p:extLst>
              <p:ext uri="{F5677B7D-0D2A-4D9B-9A5C-6D8D7D0E5A5D}">
                <pptd:line encoding="base64url">eyJjdXJ2ZSI6InJvdW5kIiwicG9pbnRzIjoiMCwzIDI0LDMiLCJ2aWV3Qm94IjpbMjQsNl19</pptd:line>
              </p:ext>
            </p:extLst>
          </p:nvPr>
        </p:nvSpPr>
        <p:spPr>
          <a:xfrm>
            <a:off x="8712200" y="2184400"/>
            <a:ext cx="304800" cy="76200"/>
          </a:xfrm>
          <a:custGeom>
            <a:avLst/>
            <a:gdLst/>
            <a:ahLst/>
            <a:cxnLst/>
            <a:rect l="l" t="t" r="r" b="b"/>
            <a:pathLst>
              <a:path w="24" h="6">
                <a:moveTo>
                  <a:pt x="0" y="3"/>
                </a:moveTo>
                <a:lnTo>
                  <a:pt x="24" y="3"/>
                </a:lnTo>
              </a:path>
            </a:pathLst>
          </a:custGeom>
          <a:noFill/>
          <a:ln w="25400" cap="rnd">
            <a:solidFill>
              <a:srgbClr val="F0A500"/>
            </a:solidFill>
            <a:round/>
            <a:tailEnd type="arrow"/>
          </a:ln>
        </p:spPr>
      </p:sp>
      <p:sp>
        <p:nvSpPr>
          <p:cNvPr id="16" name="n5-box"/>
          <p:cNvSpPr/>
          <p:nvPr/>
        </p:nvSpPr>
        <p:spPr>
          <a:xfrm>
            <a:off x="9042400" y="1651000"/>
            <a:ext cx="1778000" cy="1143000"/>
          </a:xfrm>
          <a:prstGeom prst="rect">
            <a:avLst/>
          </a:prstGeom>
          <a:solidFill>
            <a:srgbClr val="F5F6F8"/>
          </a:solidFill>
          <a:ln w="12700">
            <a:solidFill>
              <a:srgbClr val="1A1A2E"/>
            </a:solidFill>
          </a:ln>
        </p:spPr>
      </p:sp>
      <p:sp>
        <p:nvSpPr>
          <p:cNvPr id="17" name="n5-txt"/>
          <p:cNvSpPr txBox="1"/>
          <p:nvPr/>
        </p:nvSpPr>
        <p:spPr>
          <a:xfrm>
            <a:off x="9144000" y="1905000"/>
            <a:ext cx="1600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1A1A2E"/>
                </a:solidFill>
                <a:latin typeface="MiSans"/>
                <a:ea typeface="MiSans"/>
              </a:rPr>
              <a:t>05 · RFQ-рассылка по email</a:t>
            </a:r>
            <a:endParaRPr lang="en-US" sz="1250"/>
          </a:p>
        </p:txBody>
      </p:sp>
      <p:sp>
        <p:nvSpPr>
          <p:cNvPr id="18" name="a5"/>
          <p:cNvSpPr/>
          <p:nvPr>
            <p:extLst>
              <p:ext uri="{F5677B7D-0D2A-4D9B-9A5C-6D8D7D0E5A5D}">
                <pptd:line encoding="base64url">eyJjdXJ2ZSI6InJvdW5kIiwicG9pbnRzIjoiMCwzIDI0LDMiLCJ2aWV3Qm94IjpbMjQsNl19</pptd:line>
              </p:ext>
            </p:extLst>
          </p:nvPr>
        </p:nvSpPr>
        <p:spPr>
          <a:xfrm>
            <a:off x="10845800" y="2184400"/>
            <a:ext cx="304800" cy="76200"/>
          </a:xfrm>
          <a:custGeom>
            <a:avLst/>
            <a:gdLst/>
            <a:ahLst/>
            <a:cxnLst/>
            <a:rect l="l" t="t" r="r" b="b"/>
            <a:pathLst>
              <a:path w="24" h="6">
                <a:moveTo>
                  <a:pt x="0" y="3"/>
                </a:moveTo>
                <a:lnTo>
                  <a:pt x="24" y="3"/>
                </a:lnTo>
              </a:path>
            </a:pathLst>
          </a:custGeom>
          <a:noFill/>
          <a:ln w="25400" cap="rnd">
            <a:solidFill>
              <a:srgbClr val="F0A500"/>
            </a:solidFill>
            <a:round/>
            <a:tailEnd type="arrow"/>
          </a:ln>
        </p:spPr>
      </p:sp>
      <p:sp>
        <p:nvSpPr>
          <p:cNvPr id="19" name="n6-box"/>
          <p:cNvSpPr/>
          <p:nvPr/>
        </p:nvSpPr>
        <p:spPr>
          <a:xfrm>
            <a:off x="11176000" y="1651000"/>
            <a:ext cx="762000" cy="1143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20" name="n6-txt"/>
          <p:cNvSpPr txBox="1"/>
          <p:nvPr/>
        </p:nvSpPr>
        <p:spPr>
          <a:xfrm>
            <a:off x="11226800" y="1778000"/>
            <a:ext cx="6604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1150" b="1">
                <a:solidFill>
                  <a:srgbClr val="FFFFFF"/>
                </a:solidFill>
                <a:latin typeface="MiSans"/>
                <a:ea typeface="MiSans"/>
              </a:rPr>
              <a:t>КП → выбор</a:t>
            </a:r>
            <a:endParaRPr lang="en-US" sz="1150"/>
          </a:p>
        </p:txBody>
      </p:sp>
      <p:sp>
        <p:nvSpPr>
          <p:cNvPr id="21" name="status-head"/>
          <p:cNvSpPr txBox="1"/>
          <p:nvPr/>
        </p:nvSpPr>
        <p:spPr>
          <a:xfrm>
            <a:off x="762000" y="31750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A1A2E"/>
                </a:solidFill>
                <a:latin typeface="MiSans"/>
                <a:ea typeface="MiSans"/>
              </a:rPr>
              <a:t>Статусы заявки отражают этап</a:t>
            </a:r>
            <a:endParaRPr lang="en-US" sz="1600"/>
          </a:p>
        </p:txBody>
      </p:sp>
      <p:sp>
        <p:nvSpPr>
          <p:cNvPr id="22" name="status-flow"/>
          <p:cNvSpPr txBox="1"/>
          <p:nvPr/>
        </p:nvSpPr>
        <p:spPr>
          <a:xfrm>
            <a:off x="762000" y="35560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draft → parsing → confirmed → matching → matched → </a:t>
            </a: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rfq_sent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→ collecting_quotes → ready</a:t>
            </a:r>
            <a:endParaRPr lang="en-US" sz="1300"/>
          </a:p>
        </p:txBody>
      </p:sp>
      <p:sp>
        <p:nvSpPr>
          <p:cNvPr id="23" name="status-note"/>
          <p:cNvSpPr txBox="1"/>
          <p:nvPr/>
        </p:nvSpPr>
        <p:spPr>
          <a:xfrm>
            <a:off x="762000" y="39624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Ошибочные ветки предусмотрены: сбой парсинга возвращает заявку в draft; полный сбой рассылки переводит в rfq_failed (а не выдаёт себя за успех); без адреса подбор не стартует — интерфейс просит указать точку доставки.</a:t>
            </a:r>
            <a:endParaRPr lang="en-US" sz="1100"/>
          </a:p>
        </p:txBody>
      </p:sp>
      <p:sp>
        <p:nvSpPr>
          <p:cNvPr id="24" name="bottom-rule"/>
          <p:cNvSpPr/>
          <p:nvPr/>
        </p:nvSpPr>
        <p:spPr>
          <a:xfrm>
            <a:off x="762000" y="4978400"/>
            <a:ext cx="10668000" cy="12700"/>
          </a:xfrm>
          <a:prstGeom prst="rect">
            <a:avLst/>
          </a:prstGeom>
          <a:solidFill>
            <a:srgbClr val="D9DEE6"/>
          </a:solidFill>
          <a:ln>
            <a:noFill/>
          </a:ln>
        </p:spPr>
      </p:sp>
      <p:sp>
        <p:nvSpPr>
          <p:cNvPr id="25" name="roles"/>
          <p:cNvSpPr txBox="1"/>
          <p:nvPr/>
        </p:nvSpPr>
        <p:spPr>
          <a:xfrm>
            <a:off x="762000" y="51562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Два участника: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заказчик работает в личном кабинете (заявки, поставщики, конкурентный лист), поставщик — без регистрации, по персональной ссылке из письма.</a:t>
            </a:r>
            <a:endParaRPr lang="en-US" sz="1300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Каждый шаг дальше разобран отдельно: что делает система, какие сервисы участвуют и где заложены запасные пути.</a:t>
            </a:r>
            <a:endParaRPr lang="en-US" sz="1300"/>
          </a:p>
        </p:txBody>
      </p:sp>
      <p:sp>
        <p:nvSpPr>
          <p:cNvPr id="26" name="footer"/>
          <p:cNvSpPr txBox="1"/>
          <p:nvPr/>
        </p:nvSpPr>
        <p:spPr>
          <a:xfrm>
            <a:off x="762000" y="64135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Минитендер.рф · v1.0.0</a:t>
            </a:r>
            <a:endParaRPr lang="en-US" sz="1100"/>
          </a:p>
        </p:txBody>
      </p:sp>
      <p:sp>
        <p:nvSpPr>
          <p:cNvPr id="27" name="pagenum"/>
          <p:cNvSpPr txBox="1"/>
          <p:nvPr/>
        </p:nvSpPr>
        <p:spPr>
          <a:xfrm>
            <a:off x="11176000" y="64135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r"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62000" y="4572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A1A2E"/>
                </a:solidFill>
                <a:latin typeface="MiSans"/>
                <a:ea typeface="MiSans"/>
              </a:rPr>
              <a:t>Шаг 1–2 · LLM-парсинг: текст превращается в структуру</a:t>
            </a:r>
            <a:endParaRPr lang="en-US" sz="2700"/>
          </a:p>
        </p:txBody>
      </p:sp>
      <p:sp>
        <p:nvSpPr>
          <p:cNvPr id="3" name="title-bar"/>
          <p:cNvSpPr/>
          <p:nvPr/>
        </p:nvSpPr>
        <p:spPr>
          <a:xfrm>
            <a:off x="762000" y="1016000"/>
            <a:ext cx="609600" cy="38100"/>
          </a:xfrm>
          <a:prstGeom prst="rect">
            <a:avLst/>
          </a:prstGeom>
          <a:solidFill>
            <a:srgbClr val="F0A500"/>
          </a:solidFill>
          <a:ln>
            <a:noFill/>
          </a:ln>
        </p:spPr>
      </p:sp>
      <p:sp>
        <p:nvSpPr>
          <p:cNvPr id="4" name="in-head"/>
          <p:cNvSpPr txBox="1"/>
          <p:nvPr/>
        </p:nvSpPr>
        <p:spPr>
          <a:xfrm>
            <a:off x="762000" y="1371600"/>
            <a:ext cx="5461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A1A2E"/>
                </a:solidFill>
                <a:latin typeface="MiSans"/>
                <a:ea typeface="MiSans"/>
              </a:rPr>
              <a:t>Что пишет заказчик</a:t>
            </a:r>
            <a:endParaRPr lang="en-US" sz="1600"/>
          </a:p>
        </p:txBody>
      </p:sp>
      <p:sp>
        <p:nvSpPr>
          <p:cNvPr id="5" name="in-body"/>
          <p:cNvSpPr txBox="1"/>
          <p:nvPr/>
        </p:nvSpPr>
        <p:spPr>
          <a:xfrm>
            <a:off x="762000" y="1752600"/>
            <a:ext cx="5461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350">
                <a:solidFill>
                  <a:srgbClr val="333A47"/>
                </a:solidFill>
                <a:latin typeface="MiSans"/>
                <a:ea typeface="MiSans"/>
              </a:rPr>
              <a:t>«Брусчатка 200х100х60 серая — 200 м²</a:t>
            </a:r>
            <a:endParaRPr lang="en-US" sz="1350"/>
          </a:p>
          <a:p>
            <a:pPr>
              <a:lnSpc>
                <a:spcPct val="150000"/>
              </a:lnSpc>
            </a:pPr>
            <a:r>
              <a:rPr lang="en-US" sz="1350">
                <a:solidFill>
                  <a:srgbClr val="333A47"/>
                </a:solidFill>
                <a:latin typeface="MiSans"/>
                <a:ea typeface="MiSans"/>
              </a:rPr>
              <a:t>Резиновая плитка 600х600 зелёная — 150 м²</a:t>
            </a:r>
            <a:endParaRPr lang="en-US" sz="1350"/>
          </a:p>
          <a:p>
            <a:pPr>
              <a:lnSpc>
                <a:spcPct val="150000"/>
              </a:lnSpc>
            </a:pPr>
            <a:r>
              <a:rPr lang="en-US" sz="1350">
                <a:solidFill>
                  <a:srgbClr val="333A47"/>
                </a:solidFill>
                <a:latin typeface="MiSans"/>
                <a:ea typeface="MiSans"/>
              </a:rPr>
              <a:t>Бетон М300 — 12 м³»</a:t>
            </a:r>
            <a:endParaRPr lang="en-US" sz="1350"/>
          </a:p>
        </p:txBody>
      </p:sp>
      <p:sp>
        <p:nvSpPr>
          <p:cNvPr id="6" name="in-note"/>
          <p:cNvSpPr txBox="1"/>
          <p:nvPr/>
        </p:nvSpPr>
        <p:spPr>
          <a:xfrm>
            <a:off x="762000" y="3124200"/>
            <a:ext cx="5461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Никаких форм и справочников для пользователя: вольный текст, как в блокноте или письме поставщику.</a:t>
            </a:r>
            <a:endParaRPr lang="en-US" sz="1100"/>
          </a:p>
        </p:txBody>
      </p:sp>
      <p:sp>
        <p:nvSpPr>
          <p:cNvPr id="7" name="arrow-mid"/>
          <p:cNvSpPr/>
          <p:nvPr>
            <p:extLst>
              <p:ext uri="{F5677B7D-0D2A-4D9B-9A5C-6D8D7D0E5A5D}">
                <pptd:line encoding="base64url">eyJjdXJ2ZSI6InJvdW5kIiwicG9pbnRzIjoiMCw0IDM0LDQiLCJ2aWV3Qm94IjpbMzQsOF19</pptd:line>
              </p:ext>
            </p:extLst>
          </p:nvPr>
        </p:nvSpPr>
        <p:spPr>
          <a:xfrm>
            <a:off x="6324600" y="2235200"/>
            <a:ext cx="431800" cy="101600"/>
          </a:xfrm>
          <a:custGeom>
            <a:avLst/>
            <a:gdLst/>
            <a:ahLst/>
            <a:cxnLst/>
            <a:rect l="l" t="t" r="r" b="b"/>
            <a:pathLst>
              <a:path w="34" h="8">
                <a:moveTo>
                  <a:pt x="0" y="4"/>
                </a:moveTo>
                <a:lnTo>
                  <a:pt x="34" y="4"/>
                </a:lnTo>
              </a:path>
            </a:pathLst>
          </a:custGeom>
          <a:noFill/>
          <a:ln w="31750" cap="rnd">
            <a:solidFill>
              <a:srgbClr val="F0A500"/>
            </a:solidFill>
            <a:round/>
            <a:tailEnd type="arrow"/>
          </a:ln>
        </p:spPr>
      </p:sp>
      <p:sp>
        <p:nvSpPr>
          <p:cNvPr id="8" name="out-head"/>
          <p:cNvSpPr txBox="1"/>
          <p:nvPr/>
        </p:nvSpPr>
        <p:spPr>
          <a:xfrm>
            <a:off x="6959600" y="1371600"/>
            <a:ext cx="4724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A1A2E"/>
                </a:solidFill>
                <a:latin typeface="MiSans"/>
                <a:ea typeface="MiSans"/>
              </a:rPr>
              <a:t>Что получает система (DeepSeek)</a:t>
            </a:r>
            <a:endParaRPr lang="en-US" sz="1600"/>
          </a:p>
        </p:txBody>
      </p:sp>
      <p:sp>
        <p:nvSpPr>
          <p:cNvPr id="9" name="out-body"/>
          <p:cNvSpPr txBox="1"/>
          <p:nvPr/>
        </p:nvSpPr>
        <p:spPr>
          <a:xfrm>
            <a:off x="6959600" y="1752600"/>
            <a:ext cx="47244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250">
                <a:solidFill>
                  <a:srgbClr val="333A47"/>
                </a:solidFill>
                <a:latin typeface="MiSans"/>
                <a:ea typeface="MiSans"/>
              </a:rPr>
              <a:t>По каждой позиции извлекается:</a:t>
            </a:r>
            <a:endParaRPr lang="en-US" sz="125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250">
                <a:solidFill>
                  <a:srgbClr val="333A47"/>
                </a:solidFill>
                <a:latin typeface="MiSans"/>
                <a:ea typeface="MiSans"/>
              </a:rPr>
              <a:t>— наименование, категория, количество, единица</a:t>
            </a:r>
            <a:endParaRPr lang="en-US" sz="1250"/>
          </a:p>
          <a:p>
            <a:pPr>
              <a:lnSpc>
                <a:spcPct val="145000"/>
              </a:lnSpc>
            </a:pPr>
            <a:r>
              <a:rPr lang="en-US" sz="1250">
                <a:solidFill>
                  <a:srgbClr val="333A47"/>
                </a:solidFill>
                <a:latin typeface="MiSans"/>
                <a:ea typeface="MiSans"/>
              </a:rPr>
              <a:t>— </a:t>
            </a:r>
            <a:r>
              <a:rPr lang="en-US" sz="1250" b="1">
                <a:solidFill>
                  <a:srgbClr val="333A47"/>
                </a:solidFill>
                <a:latin typeface="MiSans"/>
                <a:ea typeface="MiSans"/>
              </a:rPr>
              <a:t>material_type</a:t>
            </a:r>
            <a:r>
              <a:rPr lang="en-US" sz="1250">
                <a:solidFill>
                  <a:srgbClr val="333A47"/>
                </a:solidFill>
                <a:latin typeface="MiSans"/>
                <a:ea typeface="MiSans"/>
              </a:rPr>
              <a:t>: «брусчатка» ≠ «тротуарная плитка» ≠ «резиновая плитка» — у них разные производители</a:t>
            </a:r>
            <a:endParaRPr lang="en-US" sz="1250"/>
          </a:p>
          <a:p>
            <a:pPr>
              <a:lnSpc>
                <a:spcPct val="145000"/>
              </a:lnSpc>
            </a:pPr>
            <a:r>
              <a:rPr lang="en-US" sz="1250">
                <a:solidFill>
                  <a:srgbClr val="333A47"/>
                </a:solidFill>
                <a:latin typeface="MiSans"/>
                <a:ea typeface="MiSans"/>
              </a:rPr>
              <a:t>— характеристики: размер, цвет, марка</a:t>
            </a:r>
            <a:endParaRPr lang="en-US" sz="1250"/>
          </a:p>
          <a:p>
            <a:pPr>
              <a:lnSpc>
                <a:spcPct val="145000"/>
              </a:lnSpc>
            </a:pPr>
            <a:r>
              <a:rPr lang="en-US" sz="1250">
                <a:solidFill>
                  <a:srgbClr val="333A47"/>
                </a:solidFill>
                <a:latin typeface="MiSans"/>
                <a:ea typeface="MiSans"/>
              </a:rPr>
              <a:t>— </a:t>
            </a:r>
            <a:r>
              <a:rPr lang="en-US" sz="1250" b="1">
                <a:solidFill>
                  <a:srgbClr val="333A47"/>
                </a:solidFill>
                <a:latin typeface="MiSans"/>
                <a:ea typeface="MiSans"/>
              </a:rPr>
              <a:t>confidence 0–1</a:t>
            </a:r>
            <a:r>
              <a:rPr lang="en-US" sz="1250">
                <a:solidFill>
                  <a:srgbClr val="333A47"/>
                </a:solidFill>
                <a:latin typeface="MiSans"/>
                <a:ea typeface="MiSans"/>
              </a:rPr>
              <a:t>: достаточно ли данных, чтобы поставщик назвал точную цену</a:t>
            </a:r>
            <a:endParaRPr lang="en-US" sz="1250"/>
          </a:p>
        </p:txBody>
      </p:sp>
      <p:sp>
        <p:nvSpPr>
          <p:cNvPr id="10" name="bottom-rule"/>
          <p:cNvSpPr/>
          <p:nvPr/>
        </p:nvSpPr>
        <p:spPr>
          <a:xfrm>
            <a:off x="762000" y="4318000"/>
            <a:ext cx="10668000" cy="12700"/>
          </a:xfrm>
          <a:prstGeom prst="rect">
            <a:avLst/>
          </a:prstGeom>
          <a:solidFill>
            <a:srgbClr val="D9DEE6"/>
          </a:solidFill>
          <a:ln>
            <a:noFill/>
          </a:ln>
        </p:spPr>
      </p:sp>
      <p:sp>
        <p:nvSpPr>
          <p:cNvPr id="11" name="clar-head"/>
          <p:cNvSpPr txBox="1"/>
          <p:nvPr/>
        </p:nvSpPr>
        <p:spPr>
          <a:xfrm>
            <a:off x="762000" y="45212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A1A2E"/>
                </a:solidFill>
                <a:latin typeface="MiSans"/>
                <a:ea typeface="MiSans"/>
              </a:rPr>
              <a:t>Если данных мало — система спрашивает сама</a:t>
            </a:r>
            <a:endParaRPr lang="en-US" sz="1600"/>
          </a:p>
        </p:txBody>
      </p:sp>
      <p:sp>
        <p:nvSpPr>
          <p:cNvPr id="12" name="clar-body"/>
          <p:cNvSpPr txBox="1"/>
          <p:nvPr/>
        </p:nvSpPr>
        <p:spPr>
          <a:xfrm>
            <a:off x="762000" y="4876800"/>
            <a:ext cx="6350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Пример из реального запуска:</a:t>
            </a:r>
            <a:endParaRPr lang="en-US" sz="130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300" i="1">
                <a:solidFill>
                  <a:srgbClr val="333A47"/>
                </a:solidFill>
                <a:latin typeface="MiSans"/>
                <a:ea typeface="MiSans"/>
              </a:rPr>
              <a:t>«Бетон М300: уточните подвижность (П1–П4) и наличие противоморозных добавок?»</a:t>
            </a:r>
            <a:endParaRPr lang="en-US" sz="130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Позиции с confidence &lt; 0.65 помечаются флагом needs_clarification.</a:t>
            </a:r>
            <a:endParaRPr lang="en-US" sz="1300"/>
          </a:p>
        </p:txBody>
      </p:sp>
      <p:sp>
        <p:nvSpPr>
          <p:cNvPr id="13" name="fb-head"/>
          <p:cNvSpPr txBox="1"/>
          <p:nvPr/>
        </p:nvSpPr>
        <p:spPr>
          <a:xfrm>
            <a:off x="7620000" y="4521200"/>
            <a:ext cx="406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A1A2E"/>
                </a:solidFill>
                <a:latin typeface="MiSans"/>
                <a:ea typeface="MiSans"/>
              </a:rPr>
              <a:t>Запасной путь</a:t>
            </a:r>
            <a:endParaRPr lang="en-US" sz="1600"/>
          </a:p>
        </p:txBody>
      </p:sp>
      <p:sp>
        <p:nvSpPr>
          <p:cNvPr id="14" name="fb-body"/>
          <p:cNvSpPr txBox="1"/>
          <p:nvPr/>
        </p:nvSpPr>
        <p:spPr>
          <a:xfrm>
            <a:off x="7620000" y="4876800"/>
            <a:ext cx="4064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250">
                <a:solidFill>
                  <a:srgbClr val="333A47"/>
                </a:solidFill>
                <a:latin typeface="MiSans"/>
                <a:ea typeface="MiSans"/>
              </a:rPr>
              <a:t>Нет ключа LLM или API недоступен — включается regex-парсер: строки → позиции, категория и material_type угадываются по словарю ключевых слов.</a:t>
            </a:r>
            <a:endParaRPr lang="en-US" sz="1250"/>
          </a:p>
        </p:txBody>
      </p:sp>
      <p:sp>
        <p:nvSpPr>
          <p:cNvPr id="15" name="footer"/>
          <p:cNvSpPr txBox="1"/>
          <p:nvPr/>
        </p:nvSpPr>
        <p:spPr>
          <a:xfrm>
            <a:off x="762000" y="64135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Минитендер.рф · v1.0.0</a:t>
            </a:r>
            <a:endParaRPr lang="en-US" sz="1100"/>
          </a:p>
        </p:txBody>
      </p:sp>
      <p:sp>
        <p:nvSpPr>
          <p:cNvPr id="16" name="pagenum"/>
          <p:cNvSpPr txBox="1"/>
          <p:nvPr/>
        </p:nvSpPr>
        <p:spPr>
          <a:xfrm>
            <a:off x="11176000" y="64135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r"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04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62000" y="4572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A1A2E"/>
                </a:solidFill>
                <a:latin typeface="MiSans"/>
                <a:ea typeface="MiSans"/>
              </a:rPr>
              <a:t>Шаг 3 · Точка доставки: карта 2GIS + два запасных пути</a:t>
            </a:r>
            <a:endParaRPr lang="en-US" sz="2700"/>
          </a:p>
        </p:txBody>
      </p:sp>
      <p:sp>
        <p:nvSpPr>
          <p:cNvPr id="3" name="title-bar"/>
          <p:cNvSpPr/>
          <p:nvPr/>
        </p:nvSpPr>
        <p:spPr>
          <a:xfrm>
            <a:off x="762000" y="1016000"/>
            <a:ext cx="609600" cy="38100"/>
          </a:xfrm>
          <a:prstGeom prst="rect">
            <a:avLst/>
          </a:prstGeom>
          <a:solidFill>
            <a:srgbClr val="F0A500"/>
          </a:solidFill>
          <a:ln>
            <a:noFill/>
          </a:ln>
        </p:spPr>
      </p:sp>
      <p:sp>
        <p:nvSpPr>
          <p:cNvPr id="4" name="p1-box"/>
          <p:cNvSpPr/>
          <p:nvPr/>
        </p:nvSpPr>
        <p:spPr>
          <a:xfrm>
            <a:off x="762000" y="1524000"/>
            <a:ext cx="3175000" cy="1219200"/>
          </a:xfrm>
          <a:prstGeom prst="rect">
            <a:avLst/>
          </a:prstGeom>
          <a:solidFill>
            <a:srgbClr val="F5F6F8"/>
          </a:solidFill>
          <a:ln w="12700">
            <a:solidFill>
              <a:srgbClr val="1A1A2E"/>
            </a:solidFill>
          </a:ln>
        </p:spPr>
      </p:sp>
      <p:sp>
        <p:nvSpPr>
          <p:cNvPr id="5" name="p1-tag"/>
          <p:cNvSpPr txBox="1"/>
          <p:nvPr/>
        </p:nvSpPr>
        <p:spPr>
          <a:xfrm>
            <a:off x="914400" y="1651000"/>
            <a:ext cx="2870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B97A00"/>
                </a:solidFill>
                <a:latin typeface="MiSans"/>
                <a:ea typeface="MiSans"/>
              </a:rPr>
              <a:t>ОСНОВНОЙ ПУТЬ</a:t>
            </a:r>
            <a:endParaRPr lang="en-US" sz="1100"/>
          </a:p>
        </p:txBody>
      </p:sp>
      <p:sp>
        <p:nvSpPr>
          <p:cNvPr id="6" name="p1-txt"/>
          <p:cNvSpPr txBox="1"/>
          <p:nvPr/>
        </p:nvSpPr>
        <p:spPr>
          <a:xfrm>
            <a:off x="914400" y="1930400"/>
            <a:ext cx="2870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250">
                <a:solidFill>
                  <a:srgbClr val="333A47"/>
                </a:solidFill>
                <a:latin typeface="MiSans"/>
                <a:ea typeface="MiSans"/>
              </a:rPr>
              <a:t>Клик по карте 2GIS — координаты приходят с фронта сразу, без запросов к геокодеру</a:t>
            </a:r>
            <a:endParaRPr lang="en-US" sz="1250"/>
          </a:p>
        </p:txBody>
      </p:sp>
      <p:sp>
        <p:nvSpPr>
          <p:cNvPr id="7" name="p2-box"/>
          <p:cNvSpPr/>
          <p:nvPr/>
        </p:nvSpPr>
        <p:spPr>
          <a:xfrm>
            <a:off x="4508500" y="1524000"/>
            <a:ext cx="317500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</p:sp>
      <p:sp>
        <p:nvSpPr>
          <p:cNvPr id="8" name="p2-tag"/>
          <p:cNvSpPr txBox="1"/>
          <p:nvPr/>
        </p:nvSpPr>
        <p:spPr>
          <a:xfrm>
            <a:off x="4660900" y="1651000"/>
            <a:ext cx="2870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64748B"/>
                </a:solidFill>
                <a:latin typeface="MiSans"/>
                <a:ea typeface="MiSans"/>
              </a:rPr>
              <a:t>ЗАПАСНОЙ ПУТЬ 1</a:t>
            </a:r>
            <a:endParaRPr lang="en-US" sz="1100"/>
          </a:p>
        </p:txBody>
      </p:sp>
      <p:sp>
        <p:nvSpPr>
          <p:cNvPr id="9" name="p2-txt"/>
          <p:cNvSpPr txBox="1"/>
          <p:nvPr/>
        </p:nvSpPr>
        <p:spPr>
          <a:xfrm>
            <a:off x="4660900" y="1930400"/>
            <a:ext cx="2870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250">
                <a:solidFill>
                  <a:srgbClr val="333A47"/>
                </a:solidFill>
                <a:latin typeface="MiSans"/>
                <a:ea typeface="MiSans"/>
              </a:rPr>
              <a:t>Текстовый ввод города — если карта не загрузилась, пользователь не застревает</a:t>
            </a:r>
            <a:endParaRPr lang="en-US" sz="1250"/>
          </a:p>
        </p:txBody>
      </p:sp>
      <p:sp>
        <p:nvSpPr>
          <p:cNvPr id="10" name="p3-box"/>
          <p:cNvSpPr/>
          <p:nvPr/>
        </p:nvSpPr>
        <p:spPr>
          <a:xfrm>
            <a:off x="8255000" y="1524000"/>
            <a:ext cx="317500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</p:sp>
      <p:sp>
        <p:nvSpPr>
          <p:cNvPr id="11" name="p3-tag"/>
          <p:cNvSpPr txBox="1"/>
          <p:nvPr/>
        </p:nvSpPr>
        <p:spPr>
          <a:xfrm>
            <a:off x="8407400" y="1651000"/>
            <a:ext cx="2870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64748B"/>
                </a:solidFill>
                <a:latin typeface="MiSans"/>
                <a:ea typeface="MiSans"/>
              </a:rPr>
              <a:t>ЗАПАСНОЙ ПУТЬ 2</a:t>
            </a:r>
            <a:endParaRPr lang="en-US" sz="1100"/>
          </a:p>
        </p:txBody>
      </p:sp>
      <p:sp>
        <p:nvSpPr>
          <p:cNvPr id="12" name="p3-txt"/>
          <p:cNvSpPr txBox="1"/>
          <p:nvPr/>
        </p:nvSpPr>
        <p:spPr>
          <a:xfrm>
            <a:off x="8407400" y="1930400"/>
            <a:ext cx="2870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250">
                <a:solidFill>
                  <a:srgbClr val="333A47"/>
                </a:solidFill>
                <a:latin typeface="MiSans"/>
                <a:ea typeface="MiSans"/>
              </a:rPr>
              <a:t>Яндекс.Геокодер на бэкенде: адрес строкой → lat/lon + город</a:t>
            </a:r>
            <a:endParaRPr lang="en-US" sz="1250"/>
          </a:p>
        </p:txBody>
      </p:sp>
      <p:sp>
        <p:nvSpPr>
          <p:cNvPr id="13" name="why-head"/>
          <p:cNvSpPr txBox="1"/>
          <p:nvPr/>
        </p:nvSpPr>
        <p:spPr>
          <a:xfrm>
            <a:off x="762000" y="32004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A1A2E"/>
                </a:solidFill>
                <a:latin typeface="MiSans"/>
                <a:ea typeface="MiSans"/>
              </a:rPr>
              <a:t>Зачем координаты: радиус поиска зависит от категории материала</a:t>
            </a:r>
            <a:endParaRPr lang="en-US" sz="1600"/>
          </a:p>
        </p:txBody>
      </p:sp>
      <p:sp>
        <p:nvSpPr>
          <p:cNvPr id="14" name="why-body"/>
          <p:cNvSpPr txBox="1"/>
          <p:nvPr/>
        </p:nvSpPr>
        <p:spPr>
          <a:xfrm>
            <a:off x="762000" y="3581400"/>
            <a:ext cx="6350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У каждой категории свой радиус по умолчанию:</a:t>
            </a:r>
            <a:endParaRPr lang="en-US" sz="130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— нерудные материалы, плиточный клей — </a:t>
            </a: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100 км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— бетон, кирпич, гипсокартон — </a:t>
            </a: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150 км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— пиломатериалы, кровля, брусчатка — </a:t>
            </a: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200 км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— металлопрокат, инженерные системы — </a:t>
            </a: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300 км</a:t>
            </a:r>
            <a:endParaRPr lang="en-US" sz="130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Тяжёлые и дешёвые в перевозке материалы ищутся ближе к объекту — это честная экономика доставки.</a:t>
            </a:r>
            <a:endParaRPr lang="en-US" sz="1300"/>
          </a:p>
        </p:txBody>
      </p:sp>
      <p:sp>
        <p:nvSpPr>
          <p:cNvPr id="15" name="geo-example"/>
          <p:cNvSpPr txBox="1"/>
          <p:nvPr/>
        </p:nvSpPr>
        <p:spPr>
          <a:xfrm>
            <a:off x="7620000" y="3581400"/>
            <a:ext cx="4064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00" b="1">
                <a:solidFill>
                  <a:srgbClr val="64748B"/>
                </a:solidFill>
                <a:latin typeface="MiSans"/>
                <a:ea typeface="MiSans"/>
              </a:rPr>
              <a:t>Проверено вживую (30.07.2026):</a:t>
            </a:r>
            <a:endParaRPr lang="en-US" sz="1100"/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«г. Пенза, ул. Лермонтова, 5» → 53.1834, 45.0053 — Пенза</a:t>
            </a:r>
            <a:endParaRPr lang="en-US" sz="1100"/>
          </a:p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«Иркутск» → 52.2896, 104.2806 — Иркутск</a:t>
            </a:r>
            <a:endParaRPr lang="en-US" sz="1100"/>
          </a:p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«г. Подольск, ул. Парковая, 10» → 55.4301, 37.5187 — Подольск</a:t>
            </a:r>
            <a:endParaRPr lang="en-US" sz="1100"/>
          </a:p>
        </p:txBody>
      </p:sp>
      <p:sp>
        <p:nvSpPr>
          <p:cNvPr id="16" name="bottom-rule"/>
          <p:cNvSpPr/>
          <p:nvPr/>
        </p:nvSpPr>
        <p:spPr>
          <a:xfrm>
            <a:off x="762000" y="5486400"/>
            <a:ext cx="10668000" cy="12700"/>
          </a:xfrm>
          <a:prstGeom prst="rect">
            <a:avLst/>
          </a:prstGeom>
          <a:solidFill>
            <a:srgbClr val="D9DEE6"/>
          </a:solidFill>
          <a:ln>
            <a:noFill/>
          </a:ln>
        </p:spPr>
      </p:sp>
      <p:sp>
        <p:nvSpPr>
          <p:cNvPr id="17" name="bottom-note"/>
          <p:cNvSpPr txBox="1"/>
          <p:nvPr/>
        </p:nvSpPr>
        <p:spPr>
          <a:xfrm>
            <a:off x="762000" y="56642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Без координат кнопка «Подобрать поставщиков» недоступна, а API отвечает понятной подсказкой — подбор по расстоянию невозможен без точки отсчёта.</a:t>
            </a:r>
            <a:endParaRPr lang="en-US" sz="1300"/>
          </a:p>
        </p:txBody>
      </p:sp>
      <p:sp>
        <p:nvSpPr>
          <p:cNvPr id="18" name="footer"/>
          <p:cNvSpPr txBox="1"/>
          <p:nvPr/>
        </p:nvSpPr>
        <p:spPr>
          <a:xfrm>
            <a:off x="762000" y="64135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Минитендер.рф · v1.0.0</a:t>
            </a:r>
            <a:endParaRPr lang="en-US" sz="1100"/>
          </a:p>
        </p:txBody>
      </p:sp>
      <p:sp>
        <p:nvSpPr>
          <p:cNvPr id="19" name="pagenum"/>
          <p:cNvSpPr txBox="1"/>
          <p:nvPr/>
        </p:nvSpPr>
        <p:spPr>
          <a:xfrm>
            <a:off x="11176000" y="64135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r"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05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62000" y="4572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A1A2E"/>
                </a:solidFill>
                <a:latin typeface="MiSans"/>
                <a:ea typeface="MiSans"/>
              </a:rPr>
              <a:t>Шаг 4 · Подбор: скоринг + фильтр по ассортименту</a:t>
            </a:r>
            <a:endParaRPr lang="en-US" sz="2700"/>
          </a:p>
        </p:txBody>
      </p:sp>
      <p:sp>
        <p:nvSpPr>
          <p:cNvPr id="3" name="title-bar"/>
          <p:cNvSpPr/>
          <p:nvPr/>
        </p:nvSpPr>
        <p:spPr>
          <a:xfrm>
            <a:off x="762000" y="1016000"/>
            <a:ext cx="609600" cy="38100"/>
          </a:xfrm>
          <a:prstGeom prst="rect">
            <a:avLst/>
          </a:prstGeom>
          <a:solidFill>
            <a:srgbClr val="F0A500"/>
          </a:solidFill>
          <a:ln>
            <a:noFill/>
          </a:ln>
        </p:spPr>
      </p:sp>
      <p:graphicFrame>
        <p:nvGraphicFramePr>
          <p:cNvPr id="4" name="score-table"/>
          <p:cNvGraphicFramePr>
            <a:graphicFrameLocks noGrp="1"/>
          </p:cNvGraphicFramePr>
          <p:nvPr/>
        </p:nvGraphicFramePr>
        <p:xfrm>
          <a:off x="762000" y="1397000"/>
          <a:ext cx="6604000" cy="3556000"/>
        </p:xfrm>
        <a:graphic>
          <a:graphicData uri="http://schemas.openxmlformats.org/drawingml/2006/table">
            <a:tbl>
              <a:tblPr/>
              <a:tblGrid>
                <a:gridCol w="2905760"/>
                <a:gridCol w="924560"/>
                <a:gridCol w="2773680"/>
              </a:tblGrid>
              <a:tr h="444500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</a:rPr>
                        <a:t>Компонент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A1A2E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</a:rPr>
                        <a:t>Вес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A1A2E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</a:rPr>
                        <a:t>Что измеряет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A1A2E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444500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Покрытие категорий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до 50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доля категорий заявки в профиле поставщика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</a:tr>
              <a:tr h="444500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Расстояние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до 30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ближе к объекту — выше (в пределах радиуса)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</a:tr>
              <a:tr h="444500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Ассортимент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+20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товар найден в каталоге / ключевых словах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</a:tr>
              <a:tr h="444500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Тип материала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+15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точное совпадение material_type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</a:tr>
              <a:tr h="444500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Рейтинг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до 10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скрытый рейтинг поставщика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</a:tr>
              <a:tr h="444500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Полнота профиля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до 10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email + телефон + сайт + юр. название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</a:tr>
              <a:tr h="444500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Производитель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+5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бонус заводу перед дилером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filter-head"/>
          <p:cNvSpPr txBox="1"/>
          <p:nvPr/>
        </p:nvSpPr>
        <p:spPr>
          <a:xfrm>
            <a:off x="7874000" y="13970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A1A2E"/>
                </a:solidFill>
                <a:latin typeface="MiSans"/>
                <a:ea typeface="MiSans"/>
              </a:rPr>
              <a:t>Жёсткий фильтр до скоринга</a:t>
            </a:r>
            <a:endParaRPr lang="en-US" sz="1600"/>
          </a:p>
        </p:txBody>
      </p:sp>
      <p:sp>
        <p:nvSpPr>
          <p:cNvPr id="6" name="filter-body"/>
          <p:cNvSpPr txBox="1"/>
          <p:nvPr/>
        </p:nvSpPr>
        <p:spPr>
          <a:xfrm>
            <a:off x="7874000" y="1752600"/>
            <a:ext cx="3810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250">
                <a:solidFill>
                  <a:srgbClr val="333A47"/>
                </a:solidFill>
                <a:latin typeface="MiSans"/>
                <a:ea typeface="MiSans"/>
              </a:rPr>
              <a:t>Если у поставщика заполнен каталог и искомого товара в нём </a:t>
            </a:r>
            <a:r>
              <a:rPr lang="en-US" sz="1250" b="1">
                <a:solidFill>
                  <a:srgbClr val="333A47"/>
                </a:solidFill>
                <a:latin typeface="MiSans"/>
                <a:ea typeface="MiSans"/>
              </a:rPr>
              <a:t>нет</a:t>
            </a:r>
            <a:r>
              <a:rPr lang="en-US" sz="1250">
                <a:solidFill>
                  <a:srgbClr val="333A47"/>
                </a:solidFill>
                <a:latin typeface="MiSans"/>
                <a:ea typeface="MiSans"/>
              </a:rPr>
              <a:t> — он отбрасывается до подсчёта баллов.</a:t>
            </a:r>
            <a:endParaRPr lang="en-US" sz="1250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250">
                <a:solidFill>
                  <a:srgbClr val="333A47"/>
                </a:solidFill>
                <a:latin typeface="MiSans"/>
                <a:ea typeface="MiSans"/>
              </a:rPr>
              <a:t>Каталог пуст — поставщик допускается (обратная совместимость, балл 0).</a:t>
            </a:r>
            <a:endParaRPr lang="en-US" sz="1250"/>
          </a:p>
        </p:txBody>
      </p:sp>
      <p:sp>
        <p:nvSpPr>
          <p:cNvPr id="7" name="ex-head"/>
          <p:cNvSpPr txBox="1"/>
          <p:nvPr/>
        </p:nvSpPr>
        <p:spPr>
          <a:xfrm>
            <a:off x="7874000" y="36322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A1A2E"/>
                </a:solidFill>
                <a:latin typeface="MiSans"/>
                <a:ea typeface="MiSans"/>
              </a:rPr>
              <a:t>Реальный результат</a:t>
            </a:r>
            <a:endParaRPr lang="en-US" sz="1600"/>
          </a:p>
        </p:txBody>
      </p:sp>
      <p:sp>
        <p:nvSpPr>
          <p:cNvPr id="8" name="ex-body"/>
          <p:cNvSpPr txBox="1"/>
          <p:nvPr/>
        </p:nvSpPr>
        <p:spPr>
          <a:xfrm>
            <a:off x="7874000" y="3987800"/>
            <a:ext cx="3810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«Брусчатка 200×100×60, Подольск»:</a:t>
            </a:r>
            <a:endParaRPr lang="en-US" sz="1100"/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lang="en-US" sz="1100" b="1">
                <a:solidFill>
                  <a:srgbClr val="64748B"/>
                </a:solidFill>
                <a:latin typeface="MiSans"/>
                <a:ea typeface="MiSans"/>
              </a:rPr>
              <a:t>135.1</a:t>
            </a: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 — ООО «ЮгБрусчатка», производитель, 2.7 км</a:t>
            </a:r>
            <a:endParaRPr lang="en-US" sz="1100"/>
          </a:p>
          <a:p>
            <a:pPr>
              <a:lnSpc>
                <a:spcPct val="135000"/>
              </a:lnSpc>
            </a:pPr>
            <a:r>
              <a:rPr lang="en-US" sz="1100" b="1">
                <a:solidFill>
                  <a:srgbClr val="64748B"/>
                </a:solidFill>
                <a:latin typeface="MiSans"/>
                <a:ea typeface="MiSans"/>
              </a:rPr>
              <a:t>129.6</a:t>
            </a: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 — «Брусчатка Центр», дилер, 6.3 км</a:t>
            </a:r>
            <a:endParaRPr lang="en-US" sz="1100"/>
          </a:p>
          <a:p>
            <a:pPr>
              <a:lnSpc>
                <a:spcPct val="135000"/>
              </a:lnSpc>
            </a:pPr>
            <a:r>
              <a:rPr lang="en-US" sz="1100" b="1">
                <a:solidFill>
                  <a:srgbClr val="64748B"/>
                </a:solidFill>
                <a:latin typeface="MiSans"/>
                <a:ea typeface="MiSans"/>
              </a:rPr>
              <a:t>55.0</a:t>
            </a: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 — универсальный дилер, 0 км</a:t>
            </a:r>
            <a:endParaRPr lang="en-US" sz="1100"/>
          </a:p>
        </p:txBody>
      </p:sp>
      <p:sp>
        <p:nvSpPr>
          <p:cNvPr id="9" name="bottom-rule"/>
          <p:cNvSpPr/>
          <p:nvPr/>
        </p:nvSpPr>
        <p:spPr>
          <a:xfrm>
            <a:off x="762000" y="5486400"/>
            <a:ext cx="10668000" cy="12700"/>
          </a:xfrm>
          <a:prstGeom prst="rect">
            <a:avLst/>
          </a:prstGeom>
          <a:solidFill>
            <a:srgbClr val="D9DEE6"/>
          </a:solidFill>
          <a:ln>
            <a:noFill/>
          </a:ln>
        </p:spPr>
      </p:sp>
      <p:sp>
        <p:nvSpPr>
          <p:cNvPr id="10" name="bottom-note"/>
          <p:cNvSpPr txBox="1"/>
          <p:nvPr/>
        </p:nvSpPr>
        <p:spPr>
          <a:xfrm>
            <a:off x="762000" y="56642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Каждый балл прозрачен: API возвращает </a:t>
            </a: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score_breakdown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с расшифровкой по компонентам — видно, за что поставщик получил своё место. В ответ попадает топ-20.</a:t>
            </a:r>
            <a:endParaRPr lang="en-US" sz="1300"/>
          </a:p>
        </p:txBody>
      </p:sp>
      <p:sp>
        <p:nvSpPr>
          <p:cNvPr id="11" name="footer"/>
          <p:cNvSpPr txBox="1"/>
          <p:nvPr/>
        </p:nvSpPr>
        <p:spPr>
          <a:xfrm>
            <a:off x="762000" y="64135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Минитендер.рф · v1.0.0</a:t>
            </a:r>
            <a:endParaRPr lang="en-US" sz="1100"/>
          </a:p>
        </p:txBody>
      </p:sp>
      <p:sp>
        <p:nvSpPr>
          <p:cNvPr id="12" name="pagenum"/>
          <p:cNvSpPr txBox="1"/>
          <p:nvPr/>
        </p:nvSpPr>
        <p:spPr>
          <a:xfrm>
            <a:off x="11176000" y="64135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r"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06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62000" y="4572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A1A2E"/>
                </a:solidFill>
                <a:latin typeface="MiSans"/>
                <a:ea typeface="MiSans"/>
              </a:rPr>
              <a:t>Шаг 5 · RFQ-рассылка поставщикам</a:t>
            </a:r>
            <a:endParaRPr lang="en-US" sz="2700"/>
          </a:p>
        </p:txBody>
      </p:sp>
      <p:sp>
        <p:nvSpPr>
          <p:cNvPr id="3" name="title-bar"/>
          <p:cNvSpPr/>
          <p:nvPr/>
        </p:nvSpPr>
        <p:spPr>
          <a:xfrm>
            <a:off x="762000" y="1016000"/>
            <a:ext cx="609600" cy="38100"/>
          </a:xfrm>
          <a:prstGeom prst="rect">
            <a:avLst/>
          </a:prstGeom>
          <a:solidFill>
            <a:srgbClr val="F0A500"/>
          </a:solidFill>
          <a:ln>
            <a:noFill/>
          </a:ln>
        </p:spPr>
      </p:sp>
      <p:sp>
        <p:nvSpPr>
          <p:cNvPr id="4" name="f1-box"/>
          <p:cNvSpPr/>
          <p:nvPr/>
        </p:nvSpPr>
        <p:spPr>
          <a:xfrm>
            <a:off x="762000" y="1473200"/>
            <a:ext cx="2413000" cy="939800"/>
          </a:xfrm>
          <a:prstGeom prst="rect">
            <a:avLst/>
          </a:prstGeom>
          <a:solidFill>
            <a:srgbClr val="F5F6F8"/>
          </a:solidFill>
          <a:ln w="12700">
            <a:solidFill>
              <a:srgbClr val="1A1A2E"/>
            </a:solidFill>
          </a:ln>
        </p:spPr>
      </p:sp>
      <p:sp>
        <p:nvSpPr>
          <p:cNvPr id="5" name="f1-txt"/>
          <p:cNvSpPr txBox="1"/>
          <p:nvPr/>
        </p:nvSpPr>
        <p:spPr>
          <a:xfrm>
            <a:off x="889000" y="1600200"/>
            <a:ext cx="2159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333A47"/>
                </a:solidFill>
                <a:latin typeface="MiSans"/>
                <a:ea typeface="MiSans"/>
              </a:rPr>
              <a:t>Заказчик отмечает поставщиков и жмёт «Начать тендер»</a:t>
            </a:r>
            <a:endParaRPr lang="en-US" sz="1200"/>
          </a:p>
        </p:txBody>
      </p:sp>
      <p:sp>
        <p:nvSpPr>
          <p:cNvPr id="6" name="fa1"/>
          <p:cNvSpPr/>
          <p:nvPr>
            <p:extLst>
              <p:ext uri="{F5677B7D-0D2A-4D9B-9A5C-6D8D7D0E5A5D}">
                <pptd:line encoding="base64url">eyJjdXJ2ZSI6InJvdW5kIiwicG9pbnRzIjoiMCwzIDI2LDMiLCJ2aWV3Qm94IjpbMjYsNl19</pptd:line>
              </p:ext>
            </p:extLst>
          </p:nvPr>
        </p:nvSpPr>
        <p:spPr>
          <a:xfrm>
            <a:off x="3200400" y="1879600"/>
            <a:ext cx="330200" cy="76200"/>
          </a:xfrm>
          <a:custGeom>
            <a:avLst/>
            <a:gdLst/>
            <a:ahLst/>
            <a:cxnLst/>
            <a:rect l="l" t="t" r="r" b="b"/>
            <a:pathLst>
              <a:path w="26" h="6">
                <a:moveTo>
                  <a:pt x="0" y="3"/>
                </a:moveTo>
                <a:lnTo>
                  <a:pt x="26" y="3"/>
                </a:lnTo>
              </a:path>
            </a:pathLst>
          </a:custGeom>
          <a:noFill/>
          <a:ln w="25400" cap="rnd">
            <a:solidFill>
              <a:srgbClr val="F0A500"/>
            </a:solidFill>
            <a:round/>
            <a:tailEnd type="arrow"/>
          </a:ln>
        </p:spPr>
      </p:sp>
      <p:sp>
        <p:nvSpPr>
          <p:cNvPr id="7" name="f2-box"/>
          <p:cNvSpPr/>
          <p:nvPr/>
        </p:nvSpPr>
        <p:spPr>
          <a:xfrm>
            <a:off x="3556000" y="1473200"/>
            <a:ext cx="2413000" cy="939800"/>
          </a:xfrm>
          <a:prstGeom prst="rect">
            <a:avLst/>
          </a:prstGeom>
          <a:solidFill>
            <a:srgbClr val="F5F6F8"/>
          </a:solidFill>
          <a:ln w="12700">
            <a:solidFill>
              <a:srgbClr val="1A1A2E"/>
            </a:solidFill>
          </a:ln>
        </p:spPr>
      </p:sp>
      <p:sp>
        <p:nvSpPr>
          <p:cNvPr id="8" name="f2-txt"/>
          <p:cNvSpPr txBox="1"/>
          <p:nvPr/>
        </p:nvSpPr>
        <p:spPr>
          <a:xfrm>
            <a:off x="3683000" y="1600200"/>
            <a:ext cx="2159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333A47"/>
                </a:solidFill>
                <a:latin typeface="MiSans"/>
                <a:ea typeface="MiSans"/>
              </a:rPr>
              <a:t>Приглашение: quote_token + reply-адрес для ответа письмом</a:t>
            </a:r>
            <a:endParaRPr lang="en-US" sz="1200"/>
          </a:p>
        </p:txBody>
      </p:sp>
      <p:sp>
        <p:nvSpPr>
          <p:cNvPr id="9" name="fa2"/>
          <p:cNvSpPr/>
          <p:nvPr>
            <p:extLst>
              <p:ext uri="{F5677B7D-0D2A-4D9B-9A5C-6D8D7D0E5A5D}">
                <pptd:line encoding="base64url">eyJjdXJ2ZSI6InJvdW5kIiwicG9pbnRzIjoiMCwzIDI2LDMiLCJ2aWV3Qm94IjpbMjYsNl19</pptd:line>
              </p:ext>
            </p:extLst>
          </p:nvPr>
        </p:nvSpPr>
        <p:spPr>
          <a:xfrm>
            <a:off x="5994400" y="1879600"/>
            <a:ext cx="330200" cy="76200"/>
          </a:xfrm>
          <a:custGeom>
            <a:avLst/>
            <a:gdLst/>
            <a:ahLst/>
            <a:cxnLst/>
            <a:rect l="l" t="t" r="r" b="b"/>
            <a:pathLst>
              <a:path w="26" h="6">
                <a:moveTo>
                  <a:pt x="0" y="3"/>
                </a:moveTo>
                <a:lnTo>
                  <a:pt x="26" y="3"/>
                </a:lnTo>
              </a:path>
            </a:pathLst>
          </a:custGeom>
          <a:noFill/>
          <a:ln w="25400" cap="rnd">
            <a:solidFill>
              <a:srgbClr val="F0A500"/>
            </a:solidFill>
            <a:round/>
            <a:tailEnd type="arrow"/>
          </a:ln>
        </p:spPr>
      </p:sp>
      <p:sp>
        <p:nvSpPr>
          <p:cNvPr id="10" name="f3-box"/>
          <p:cNvSpPr/>
          <p:nvPr/>
        </p:nvSpPr>
        <p:spPr>
          <a:xfrm>
            <a:off x="6350000" y="1473200"/>
            <a:ext cx="2413000" cy="939800"/>
          </a:xfrm>
          <a:prstGeom prst="rect">
            <a:avLst/>
          </a:prstGeom>
          <a:solidFill>
            <a:srgbClr val="F5F6F8"/>
          </a:solidFill>
          <a:ln w="12700">
            <a:solidFill>
              <a:srgbClr val="1A1A2E"/>
            </a:solidFill>
          </a:ln>
        </p:spPr>
      </p:sp>
      <p:sp>
        <p:nvSpPr>
          <p:cNvPr id="11" name="f3-txt"/>
          <p:cNvSpPr txBox="1"/>
          <p:nvPr/>
        </p:nvSpPr>
        <p:spPr>
          <a:xfrm>
            <a:off x="6477000" y="1600200"/>
            <a:ext cx="2159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333A47"/>
                </a:solidFill>
                <a:latin typeface="MiSans"/>
                <a:ea typeface="MiSans"/>
              </a:rPr>
              <a:t>Письмо: HTML + текст, таблица позиций, кнопка «Заполнить КП»</a:t>
            </a:r>
            <a:endParaRPr lang="en-US" sz="1200"/>
          </a:p>
        </p:txBody>
      </p:sp>
      <p:sp>
        <p:nvSpPr>
          <p:cNvPr id="12" name="fa3"/>
          <p:cNvSpPr/>
          <p:nvPr>
            <p:extLst>
              <p:ext uri="{F5677B7D-0D2A-4D9B-9A5C-6D8D7D0E5A5D}">
                <pptd:line encoding="base64url">eyJjdXJ2ZSI6InJvdW5kIiwicG9pbnRzIjoiMCwzIDI2LDMiLCJ2aWV3Qm94IjpbMjYsNl19</pptd:line>
              </p:ext>
            </p:extLst>
          </p:nvPr>
        </p:nvSpPr>
        <p:spPr>
          <a:xfrm>
            <a:off x="8788400" y="1879600"/>
            <a:ext cx="330200" cy="76200"/>
          </a:xfrm>
          <a:custGeom>
            <a:avLst/>
            <a:gdLst/>
            <a:ahLst/>
            <a:cxnLst/>
            <a:rect l="l" t="t" r="r" b="b"/>
            <a:pathLst>
              <a:path w="26" h="6">
                <a:moveTo>
                  <a:pt x="0" y="3"/>
                </a:moveTo>
                <a:lnTo>
                  <a:pt x="26" y="3"/>
                </a:lnTo>
              </a:path>
            </a:pathLst>
          </a:custGeom>
          <a:noFill/>
          <a:ln w="25400" cap="rnd">
            <a:solidFill>
              <a:srgbClr val="F0A500"/>
            </a:solidFill>
            <a:round/>
            <a:tailEnd type="arrow"/>
          </a:ln>
        </p:spPr>
      </p:sp>
      <p:sp>
        <p:nvSpPr>
          <p:cNvPr id="13" name="f4-box"/>
          <p:cNvSpPr/>
          <p:nvPr/>
        </p:nvSpPr>
        <p:spPr>
          <a:xfrm>
            <a:off x="9144000" y="1473200"/>
            <a:ext cx="2540000" cy="9398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14" name="f4-txt"/>
          <p:cNvSpPr txBox="1"/>
          <p:nvPr/>
        </p:nvSpPr>
        <p:spPr>
          <a:xfrm>
            <a:off x="9271000" y="160020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FFFFFF"/>
                </a:solidFill>
                <a:latin typeface="MiSans"/>
                <a:ea typeface="MiSans"/>
              </a:rPr>
              <a:t>SMTP BeGet, ящик rfq@минитендер.рф (UTF-8 auth, punycode From)</a:t>
            </a:r>
            <a:endParaRPr lang="en-US" sz="1200"/>
          </a:p>
        </p:txBody>
      </p:sp>
      <p:sp>
        <p:nvSpPr>
          <p:cNvPr id="15" name="guard-head"/>
          <p:cNvSpPr txBox="1"/>
          <p:nvPr/>
        </p:nvSpPr>
        <p:spPr>
          <a:xfrm>
            <a:off x="762000" y="28448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A1A2E"/>
                </a:solidFill>
                <a:latin typeface="MiSans"/>
                <a:ea typeface="MiSans"/>
              </a:rPr>
              <a:t>Честные статусы вместо «тихих» сбоев</a:t>
            </a:r>
            <a:endParaRPr lang="en-US" sz="1600"/>
          </a:p>
        </p:txBody>
      </p:sp>
      <p:sp>
        <p:nvSpPr>
          <p:cNvPr id="16" name="guard-body"/>
          <p:cNvSpPr txBox="1"/>
          <p:nvPr/>
        </p:nvSpPr>
        <p:spPr>
          <a:xfrm>
            <a:off x="762000" y="3200400"/>
            <a:ext cx="5334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— поставщик без валидного email → </a:t>
            </a: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skipped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, с причиной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— ошибка SMTP по одному адресу → </a:t>
            </a: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error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с текстом, остальные уходят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— хотя бы одно письмо ушло → заявка </a:t>
            </a: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rfq_sent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— не ушло ни одного → </a:t>
            </a: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rfq_failed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, а не ложный успех</a:t>
            </a:r>
            <a:endParaRPr lang="en-US" sz="1300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Каждое письмо фиксируется в журнале EmailMessage.</a:t>
            </a:r>
            <a:endParaRPr lang="en-US" sz="1300"/>
          </a:p>
        </p:txBody>
      </p:sp>
      <p:sp>
        <p:nvSpPr>
          <p:cNvPr id="17" name="mail-head"/>
          <p:cNvSpPr txBox="1"/>
          <p:nvPr/>
        </p:nvSpPr>
        <p:spPr>
          <a:xfrm>
            <a:off x="6731000" y="2844800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A1A2E"/>
                </a:solidFill>
                <a:latin typeface="MiSans"/>
                <a:ea typeface="MiSans"/>
              </a:rPr>
              <a:t>Два канала ответа поставщика</a:t>
            </a:r>
            <a:endParaRPr lang="en-US" sz="1600"/>
          </a:p>
        </p:txBody>
      </p:sp>
      <p:sp>
        <p:nvSpPr>
          <p:cNvPr id="18" name="mail-body"/>
          <p:cNvSpPr txBox="1"/>
          <p:nvPr/>
        </p:nvSpPr>
        <p:spPr>
          <a:xfrm>
            <a:off x="6731000" y="3200400"/>
            <a:ext cx="4953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1. Онлайн-форма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— ссылка /quote/{token}: без регистрации, цены по позициям, аналоги, условия.</a:t>
            </a:r>
            <a:endParaRPr lang="en-US" sz="1300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2. Ответ письмом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— reply-адрес содержит код приглашения: входящее письмо автоматически привязывается к тендеру.</a:t>
            </a:r>
            <a:endParaRPr lang="en-US" sz="1300"/>
          </a:p>
        </p:txBody>
      </p:sp>
      <p:sp>
        <p:nvSpPr>
          <p:cNvPr id="19" name="bottom-rule"/>
          <p:cNvSpPr/>
          <p:nvPr/>
        </p:nvSpPr>
        <p:spPr>
          <a:xfrm>
            <a:off x="762000" y="5486400"/>
            <a:ext cx="10668000" cy="12700"/>
          </a:xfrm>
          <a:prstGeom prst="rect">
            <a:avLst/>
          </a:prstGeom>
          <a:solidFill>
            <a:srgbClr val="D9DEE6"/>
          </a:solidFill>
          <a:ln>
            <a:noFill/>
          </a:ln>
        </p:spPr>
      </p:sp>
      <p:sp>
        <p:nvSpPr>
          <p:cNvPr id="20" name="bottom-note"/>
          <p:cNvSpPr txBox="1"/>
          <p:nvPr/>
        </p:nvSpPr>
        <p:spPr>
          <a:xfrm>
            <a:off x="762000" y="56642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Проверено вживую: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тестовая рассылка через SMTP BeGet вернула статус </a:t>
            </a: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sent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, заявка перешла в rfq_sent. Отправитель — реальный ящик rfq@минитендер.рф.</a:t>
            </a:r>
            <a:endParaRPr lang="en-US" sz="1300"/>
          </a:p>
        </p:txBody>
      </p:sp>
      <p:sp>
        <p:nvSpPr>
          <p:cNvPr id="21" name="footer"/>
          <p:cNvSpPr txBox="1"/>
          <p:nvPr/>
        </p:nvSpPr>
        <p:spPr>
          <a:xfrm>
            <a:off x="762000" y="64135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Минитендер.рф · v1.0.0</a:t>
            </a:r>
            <a:endParaRPr lang="en-US" sz="1100"/>
          </a:p>
        </p:txBody>
      </p:sp>
      <p:sp>
        <p:nvSpPr>
          <p:cNvPr id="22" name="pagenum"/>
          <p:cNvSpPr txBox="1"/>
          <p:nvPr/>
        </p:nvSpPr>
        <p:spPr>
          <a:xfrm>
            <a:off x="11176000" y="64135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r"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07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62000" y="4572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A1A2E"/>
                </a:solidFill>
                <a:latin typeface="MiSans"/>
                <a:ea typeface="MiSans"/>
              </a:rPr>
              <a:t>Шаг 6 · КП поставщика и конкурентный лист</a:t>
            </a:r>
            <a:endParaRPr lang="en-US" sz="2700"/>
          </a:p>
        </p:txBody>
      </p:sp>
      <p:sp>
        <p:nvSpPr>
          <p:cNvPr id="3" name="title-bar"/>
          <p:cNvSpPr/>
          <p:nvPr/>
        </p:nvSpPr>
        <p:spPr>
          <a:xfrm>
            <a:off x="762000" y="1016000"/>
            <a:ext cx="609600" cy="38100"/>
          </a:xfrm>
          <a:prstGeom prst="rect">
            <a:avLst/>
          </a:prstGeom>
          <a:solidFill>
            <a:srgbClr val="F0A500"/>
          </a:solidFill>
          <a:ln>
            <a:noFill/>
          </a:ln>
        </p:spPr>
      </p:sp>
      <p:sp>
        <p:nvSpPr>
          <p:cNvPr id="4" name="left-head"/>
          <p:cNvSpPr txBox="1"/>
          <p:nvPr/>
        </p:nvSpPr>
        <p:spPr>
          <a:xfrm>
            <a:off x="762000" y="1371600"/>
            <a:ext cx="5461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A1A2E"/>
                </a:solidFill>
                <a:latin typeface="MiSans"/>
                <a:ea typeface="MiSans"/>
              </a:rPr>
              <a:t>Что видит поставщик по ссылке</a:t>
            </a:r>
            <a:endParaRPr lang="en-US" sz="1600"/>
          </a:p>
        </p:txBody>
      </p:sp>
      <p:sp>
        <p:nvSpPr>
          <p:cNvPr id="5" name="left-body"/>
          <p:cNvSpPr txBox="1"/>
          <p:nvPr/>
        </p:nvSpPr>
        <p:spPr>
          <a:xfrm>
            <a:off x="762000" y="1727200"/>
            <a:ext cx="54610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Публичная страница </a:t>
            </a: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/quote/{token}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— регистрация не нужна:</a:t>
            </a:r>
            <a:endParaRPr lang="en-US" sz="1300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— позиции заявки с количеством и характеристиками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— адрес доставки и срок подачи КП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— цена по каждой позиции, флаг «аналог» + бренд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— стоимость и срок доставки, условия оплаты, комментарий</a:t>
            </a:r>
            <a:endParaRPr lang="en-US" sz="1300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Повторный переход по ссылке показывает уже отправленное КП — можно исправить.</a:t>
            </a:r>
            <a:endParaRPr lang="en-US" sz="1300"/>
          </a:p>
        </p:txBody>
      </p:sp>
      <p:sp>
        <p:nvSpPr>
          <p:cNvPr id="6" name="right-head"/>
          <p:cNvSpPr txBox="1"/>
          <p:nvPr/>
        </p:nvSpPr>
        <p:spPr>
          <a:xfrm>
            <a:off x="6858000" y="13716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A1A2E"/>
                </a:solidFill>
                <a:latin typeface="MiSans"/>
                <a:ea typeface="MiSans"/>
              </a:rPr>
              <a:t>Что получает заказчик</a:t>
            </a:r>
            <a:endParaRPr lang="en-US" sz="1600"/>
          </a:p>
        </p:txBody>
      </p:sp>
      <p:sp>
        <p:nvSpPr>
          <p:cNvPr id="7" name="right-body"/>
          <p:cNvSpPr txBox="1"/>
          <p:nvPr/>
        </p:nvSpPr>
        <p:spPr>
          <a:xfrm>
            <a:off x="6858000" y="1727200"/>
            <a:ext cx="48260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Конкурентный лист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собирается автоматически:</a:t>
            </a:r>
            <a:endParaRPr lang="en-US" sz="1300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— итог по материалам: Σ цена × количество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— + доставка → grand total по каждому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— сортировка от дешёвого к дорогому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— </a:t>
            </a: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лучший поставщик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выделяется отдельно</a:t>
            </a:r>
            <a:endParaRPr lang="en-US" sz="1300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Все КП в одном формате — сравнение честное, «под диктовку в мессенджере» больше нет.</a:t>
            </a:r>
            <a:endParaRPr lang="en-US" sz="1300"/>
          </a:p>
        </p:txBody>
      </p:sp>
      <p:sp>
        <p:nvSpPr>
          <p:cNvPr id="8" name="divider-v"/>
          <p:cNvSpPr/>
          <p:nvPr/>
        </p:nvSpPr>
        <p:spPr>
          <a:xfrm>
            <a:off x="6477000" y="1371600"/>
            <a:ext cx="12700" cy="2413000"/>
          </a:xfrm>
          <a:prstGeom prst="rect">
            <a:avLst/>
          </a:prstGeom>
          <a:solidFill>
            <a:srgbClr val="D9DEE6"/>
          </a:solidFill>
          <a:ln>
            <a:noFill/>
          </a:ln>
        </p:spPr>
      </p:sp>
      <p:sp>
        <p:nvSpPr>
          <p:cNvPr id="9" name="bottom-rule"/>
          <p:cNvSpPr/>
          <p:nvPr/>
        </p:nvSpPr>
        <p:spPr>
          <a:xfrm>
            <a:off x="762000" y="4089400"/>
            <a:ext cx="10668000" cy="12700"/>
          </a:xfrm>
          <a:prstGeom prst="rect">
            <a:avLst/>
          </a:prstGeom>
          <a:solidFill>
            <a:srgbClr val="D9DEE6"/>
          </a:solidFill>
          <a:ln>
            <a:noFill/>
          </a:ln>
        </p:spPr>
      </p:sp>
      <p:sp>
        <p:nvSpPr>
          <p:cNvPr id="10" name="ex-head"/>
          <p:cNvSpPr txBox="1"/>
          <p:nvPr/>
        </p:nvSpPr>
        <p:spPr>
          <a:xfrm>
            <a:off x="762000" y="43180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A1A2E"/>
                </a:solidFill>
                <a:latin typeface="MiSans"/>
                <a:ea typeface="MiSans"/>
              </a:rPr>
              <a:t>Пример из сквозного теста (30.07.2026)</a:t>
            </a:r>
            <a:endParaRPr lang="en-US" sz="1600"/>
          </a:p>
        </p:txBody>
      </p:sp>
      <p:graphicFrame>
        <p:nvGraphicFramePr>
          <p:cNvPr id="11" name="ex-table"/>
          <p:cNvGraphicFramePr>
            <a:graphicFrameLocks noGrp="1"/>
          </p:cNvGraphicFramePr>
          <p:nvPr/>
        </p:nvGraphicFramePr>
        <p:xfrm>
          <a:off x="762000" y="4699000"/>
          <a:ext cx="10668000" cy="1397000"/>
        </p:xfrm>
        <a:graphic>
          <a:graphicData uri="http://schemas.openxmlformats.org/drawingml/2006/table">
            <a:tbl>
              <a:tblPr/>
              <a:tblGrid>
                <a:gridCol w="3200400"/>
                <a:gridCol w="1920240"/>
                <a:gridCol w="1493520"/>
                <a:gridCol w="1706880"/>
                <a:gridCol w="2346960"/>
              </a:tblGrid>
              <a:tr h="474980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</a:rPr>
                        <a:t>Поставщик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A1A2E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</a:rPr>
                        <a:t>Материалы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A1A2E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</a:rPr>
                        <a:t>Доставка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A1A2E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</a:rPr>
                        <a:t>Итого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A1A2E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</a:rPr>
                        <a:t>Условия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A1A2E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461010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ООО «ЮгБрусчатка» (производитель)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170 000 ₽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5 000 ₽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E9E57"/>
                          </a:solidFill>
                          <a:latin typeface="Times New Roman"/>
                          <a:ea typeface="Times New Roman"/>
                        </a:rPr>
                        <a:t>175 000 ₽  ← лучший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3 дня · 50% предоплата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</a:tr>
              <a:tr h="461010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…остальные КП по мере ответов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—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—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—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—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footer"/>
          <p:cNvSpPr txBox="1"/>
          <p:nvPr/>
        </p:nvSpPr>
        <p:spPr>
          <a:xfrm>
            <a:off x="762000" y="64135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Минитендер.рф · v1.0.0</a:t>
            </a:r>
            <a:endParaRPr lang="en-US" sz="1100"/>
          </a:p>
        </p:txBody>
      </p:sp>
      <p:sp>
        <p:nvSpPr>
          <p:cNvPr id="13" name="pagenum"/>
          <p:cNvSpPr txBox="1"/>
          <p:nvPr/>
        </p:nvSpPr>
        <p:spPr>
          <a:xfrm>
            <a:off x="11176000" y="64135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r"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08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62000" y="4572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A1A2E"/>
                </a:solidFill>
                <a:latin typeface="MiSans"/>
                <a:ea typeface="MiSans"/>
              </a:rPr>
              <a:t>Архитектура: монолит + 5 внешних сервисов</a:t>
            </a:r>
            <a:endParaRPr lang="en-US" sz="2700"/>
          </a:p>
        </p:txBody>
      </p:sp>
      <p:sp>
        <p:nvSpPr>
          <p:cNvPr id="3" name="title-bar"/>
          <p:cNvSpPr/>
          <p:nvPr/>
        </p:nvSpPr>
        <p:spPr>
          <a:xfrm>
            <a:off x="762000" y="1016000"/>
            <a:ext cx="609600" cy="38100"/>
          </a:xfrm>
          <a:prstGeom prst="rect">
            <a:avLst/>
          </a:prstGeom>
          <a:solidFill>
            <a:srgbClr val="F0A500"/>
          </a:solidFill>
          <a:ln>
            <a:noFill/>
          </a:ln>
        </p:spPr>
      </p:sp>
      <p:sp>
        <p:nvSpPr>
          <p:cNvPr id="4" name="fe-box"/>
          <p:cNvSpPr/>
          <p:nvPr/>
        </p:nvSpPr>
        <p:spPr>
          <a:xfrm>
            <a:off x="762000" y="1524000"/>
            <a:ext cx="3048000" cy="1651000"/>
          </a:xfrm>
          <a:prstGeom prst="rect">
            <a:avLst/>
          </a:prstGeom>
          <a:solidFill>
            <a:srgbClr val="F5F6F8"/>
          </a:solidFill>
          <a:ln w="12700">
            <a:solidFill>
              <a:srgbClr val="1A1A2E"/>
            </a:solidFill>
          </a:ln>
        </p:spPr>
      </p:sp>
      <p:sp>
        <p:nvSpPr>
          <p:cNvPr id="5" name="fe-title"/>
          <p:cNvSpPr txBox="1"/>
          <p:nvPr/>
        </p:nvSpPr>
        <p:spPr>
          <a:xfrm>
            <a:off x="914400" y="1651000"/>
            <a:ext cx="2743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A1A2E"/>
                </a:solidFill>
                <a:latin typeface="MiSans"/>
                <a:ea typeface="MiSans"/>
              </a:rPr>
              <a:t>Frontend · Next.js 15</a:t>
            </a:r>
            <a:endParaRPr lang="en-US" sz="1400"/>
          </a:p>
        </p:txBody>
      </p:sp>
      <p:sp>
        <p:nvSpPr>
          <p:cNvPr id="6" name="fe-body"/>
          <p:cNvSpPr txBox="1"/>
          <p:nvPr/>
        </p:nvSpPr>
        <p:spPr>
          <a:xfrm>
            <a:off x="914400" y="1981200"/>
            <a:ext cx="27432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:3000 · TypeScript, Tailwind</a:t>
            </a:r>
            <a:endParaRPr lang="en-US" sz="1100"/>
          </a:p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лендинг, ЛК заказчика, мастер заявки, карта 2GIS, форма КП, конкурентный лист</a:t>
            </a:r>
            <a:endParaRPr lang="en-US" sz="1100"/>
          </a:p>
        </p:txBody>
      </p:sp>
      <p:sp>
        <p:nvSpPr>
          <p:cNvPr id="7" name="api-arrow"/>
          <p:cNvSpPr/>
          <p:nvPr>
            <p:extLst>
              <p:ext uri="{F5677B7D-0D2A-4D9B-9A5C-6D8D7D0E5A5D}">
                <pptd:line encoding="base64url">eyJjdXJ2ZSI6InJvdW5kIiwicG9pbnRzIjoiMCw0IDc2LDQiLCJ2aWV3Qm94IjpbNzYsOF19</pptd:line>
              </p:ext>
            </p:extLst>
          </p:nvPr>
        </p:nvSpPr>
        <p:spPr>
          <a:xfrm>
            <a:off x="3835400" y="2260600"/>
            <a:ext cx="965200" cy="101600"/>
          </a:xfrm>
          <a:custGeom>
            <a:avLst/>
            <a:gdLst/>
            <a:ahLst/>
            <a:cxnLst/>
            <a:rect l="l" t="t" r="r" b="b"/>
            <a:pathLst>
              <a:path w="76" h="8">
                <a:moveTo>
                  <a:pt x="0" y="4"/>
                </a:moveTo>
                <a:lnTo>
                  <a:pt x="76" y="4"/>
                </a:lnTo>
              </a:path>
            </a:pathLst>
          </a:custGeom>
          <a:noFill/>
          <a:ln w="31750" cap="rnd">
            <a:solidFill>
              <a:srgbClr val="F0A500"/>
            </a:solidFill>
            <a:round/>
            <a:tailEnd type="arrow"/>
          </a:ln>
        </p:spPr>
      </p:sp>
      <p:sp>
        <p:nvSpPr>
          <p:cNvPr id="8" name="api-label"/>
          <p:cNvSpPr txBox="1"/>
          <p:nvPr/>
        </p:nvSpPr>
        <p:spPr>
          <a:xfrm>
            <a:off x="3759200" y="1930400"/>
            <a:ext cx="1117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REST + JWT</a:t>
            </a:r>
            <a:endParaRPr lang="en-US" sz="1100"/>
          </a:p>
        </p:txBody>
      </p:sp>
      <p:sp>
        <p:nvSpPr>
          <p:cNvPr id="9" name="be-box"/>
          <p:cNvSpPr/>
          <p:nvPr/>
        </p:nvSpPr>
        <p:spPr>
          <a:xfrm>
            <a:off x="4826000" y="1524000"/>
            <a:ext cx="3302000" cy="1651000"/>
          </a:xfrm>
          <a:prstGeom prst="rect">
            <a:avLst/>
          </a:prstGeom>
          <a:solidFill>
            <a:srgbClr val="F5F6F8"/>
          </a:solidFill>
          <a:ln w="12700">
            <a:solidFill>
              <a:srgbClr val="1A1A2E"/>
            </a:solidFill>
          </a:ln>
        </p:spPr>
      </p:sp>
      <p:sp>
        <p:nvSpPr>
          <p:cNvPr id="10" name="be-title"/>
          <p:cNvSpPr txBox="1"/>
          <p:nvPr/>
        </p:nvSpPr>
        <p:spPr>
          <a:xfrm>
            <a:off x="4978400" y="1651000"/>
            <a:ext cx="2997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A1A2E"/>
                </a:solidFill>
                <a:latin typeface="MiSans"/>
                <a:ea typeface="MiSans"/>
              </a:rPr>
              <a:t>Backend · Django 5 + DRF</a:t>
            </a:r>
            <a:endParaRPr lang="en-US" sz="1400"/>
          </a:p>
        </p:txBody>
      </p:sp>
      <p:sp>
        <p:nvSpPr>
          <p:cNvPr id="11" name="be-body"/>
          <p:cNvSpPr txBox="1"/>
          <p:nvPr/>
        </p:nvSpPr>
        <p:spPr>
          <a:xfrm>
            <a:off x="4978400" y="1981200"/>
            <a:ext cx="29972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:8000 · apps: requests, suppliers, quotes, emails, accounts</a:t>
            </a:r>
            <a:endParaRPr lang="en-US" sz="1100"/>
          </a:p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парсинг, матчинг, рассылка, публичное API КП</a:t>
            </a:r>
            <a:endParaRPr lang="en-US" sz="1100"/>
          </a:p>
        </p:txBody>
      </p:sp>
      <p:sp>
        <p:nvSpPr>
          <p:cNvPr id="12" name="db-arrow"/>
          <p:cNvSpPr/>
          <p:nvPr>
            <p:extLst>
              <p:ext uri="{F5677B7D-0D2A-4D9B-9A5C-6D8D7D0E5A5D}">
                <pptd:line encoding="base64url">eyJjdXJ2ZSI6InJvdW5kIiwicG9pbnRzIjoiMCw0IDU2LDQiLCJ2aWV3Qm94IjpbNTYsOF19</pptd:line>
              </p:ext>
            </p:extLst>
          </p:nvPr>
        </p:nvSpPr>
        <p:spPr>
          <a:xfrm>
            <a:off x="8153400" y="2260600"/>
            <a:ext cx="711200" cy="101600"/>
          </a:xfrm>
          <a:custGeom>
            <a:avLst/>
            <a:gdLst/>
            <a:ahLst/>
            <a:cxnLst/>
            <a:rect l="l" t="t" r="r" b="b"/>
            <a:pathLst>
              <a:path w="56" h="8">
                <a:moveTo>
                  <a:pt x="0" y="4"/>
                </a:moveTo>
                <a:lnTo>
                  <a:pt x="56" y="4"/>
                </a:lnTo>
              </a:path>
            </a:pathLst>
          </a:custGeom>
          <a:noFill/>
          <a:ln w="31750" cap="rnd">
            <a:solidFill>
              <a:srgbClr val="F0A500"/>
            </a:solidFill>
            <a:round/>
            <a:tailEnd type="arrow"/>
          </a:ln>
        </p:spPr>
      </p:sp>
      <p:sp>
        <p:nvSpPr>
          <p:cNvPr id="13" name="db-box"/>
          <p:cNvSpPr/>
          <p:nvPr/>
        </p:nvSpPr>
        <p:spPr>
          <a:xfrm>
            <a:off x="8890000" y="1524000"/>
            <a:ext cx="2794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</p:sp>
      <p:sp>
        <p:nvSpPr>
          <p:cNvPr id="14" name="db-title"/>
          <p:cNvSpPr txBox="1"/>
          <p:nvPr/>
        </p:nvSpPr>
        <p:spPr>
          <a:xfrm>
            <a:off x="9042400" y="1651000"/>
            <a:ext cx="2489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A1A2E"/>
                </a:solidFill>
                <a:latin typeface="MiSans"/>
                <a:ea typeface="MiSans"/>
              </a:rPr>
              <a:t>SQLite (dev)</a:t>
            </a:r>
            <a:endParaRPr lang="en-US" sz="1400"/>
          </a:p>
        </p:txBody>
      </p:sp>
      <p:sp>
        <p:nvSpPr>
          <p:cNvPr id="15" name="db-body"/>
          <p:cNvSpPr txBox="1"/>
          <p:nvPr/>
        </p:nvSpPr>
        <p:spPr>
          <a:xfrm>
            <a:off x="9042400" y="1981200"/>
            <a:ext cx="24892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35 поставщиков, 30 категорий, заявки, приглашения, КП, журнал писем</a:t>
            </a:r>
            <a:endParaRPr lang="en-US" sz="1100"/>
          </a:p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prod: PostgreSQL</a:t>
            </a:r>
            <a:endParaRPr lang="en-US" sz="1100"/>
          </a:p>
        </p:txBody>
      </p:sp>
      <p:sp>
        <p:nvSpPr>
          <p:cNvPr id="16" name="ext-head"/>
          <p:cNvSpPr txBox="1"/>
          <p:nvPr/>
        </p:nvSpPr>
        <p:spPr>
          <a:xfrm>
            <a:off x="762000" y="3581400"/>
            <a:ext cx="1092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A1A2E"/>
                </a:solidFill>
                <a:latin typeface="MiSans"/>
                <a:ea typeface="MiSans"/>
              </a:rPr>
              <a:t>Внешние сервисы — все подключены и проверены вживую 30.07.2026</a:t>
            </a:r>
            <a:endParaRPr lang="en-US" sz="1600"/>
          </a:p>
        </p:txBody>
      </p:sp>
      <p:graphicFrame>
        <p:nvGraphicFramePr>
          <p:cNvPr id="17" name="ext-table"/>
          <p:cNvGraphicFramePr>
            <a:graphicFrameLocks noGrp="1"/>
          </p:cNvGraphicFramePr>
          <p:nvPr/>
        </p:nvGraphicFramePr>
        <p:xfrm>
          <a:off x="762000" y="3962400"/>
          <a:ext cx="10922000" cy="2159000"/>
        </p:xfrm>
        <a:graphic>
          <a:graphicData uri="http://schemas.openxmlformats.org/drawingml/2006/table">
            <a:tbl>
              <a:tblPr/>
              <a:tblGrid>
                <a:gridCol w="1856740"/>
                <a:gridCol w="3604260"/>
                <a:gridCol w="3276600"/>
                <a:gridCol w="2184400"/>
              </a:tblGrid>
              <a:tr h="367030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</a:rPr>
                        <a:t>Сервис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A1A2E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</a:rPr>
                        <a:t>Роль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A1A2E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</a:rPr>
                        <a:t>Где используется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A1A2E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</a:rPr>
                        <a:t>Проверка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A1A2E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58394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DeepSeek LLM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парсинг заявок, поиск поставщиков, обогащение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parser, websearch, enricher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conf 0.85–0.95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</a:tr>
              <a:tr h="358394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DaData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верификация компаний: ИНН, юр. название, адрес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websearch, enricher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suggest OK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</a:tr>
              <a:tr h="358394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2GIS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карта точки доставки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фронт, мастер заявки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API 200 OK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</a:tr>
              <a:tr h="358394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Яндекс.Геокодер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адрес строкой → координаты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geocoder (backend)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3/3 адреса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</a:tr>
              <a:tr h="358394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SMTP BeGet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отправка RFQ-писем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emails (UTF-8 backend)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sent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" name="footer"/>
          <p:cNvSpPr txBox="1"/>
          <p:nvPr/>
        </p:nvSpPr>
        <p:spPr>
          <a:xfrm>
            <a:off x="762000" y="64135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Минитендер.рф · v1.0.0</a:t>
            </a:r>
            <a:endParaRPr lang="en-US" sz="1100"/>
          </a:p>
        </p:txBody>
      </p:sp>
      <p:sp>
        <p:nvSpPr>
          <p:cNvPr id="19" name="pagenum"/>
          <p:cNvSpPr txBox="1"/>
          <p:nvPr/>
        </p:nvSpPr>
        <p:spPr>
          <a:xfrm>
            <a:off x="11176000" y="64135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r"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09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62000" y="4572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A1A2E"/>
                </a:solidFill>
                <a:latin typeface="MiSans"/>
                <a:ea typeface="MiSans"/>
              </a:rPr>
              <a:t>Пополнение базы: поиск и обогащение поставщиков</a:t>
            </a:r>
            <a:endParaRPr lang="en-US" sz="2700"/>
          </a:p>
        </p:txBody>
      </p:sp>
      <p:sp>
        <p:nvSpPr>
          <p:cNvPr id="3" name="title-bar"/>
          <p:cNvSpPr/>
          <p:nvPr/>
        </p:nvSpPr>
        <p:spPr>
          <a:xfrm>
            <a:off x="762000" y="1016000"/>
            <a:ext cx="609600" cy="38100"/>
          </a:xfrm>
          <a:prstGeom prst="rect">
            <a:avLst/>
          </a:prstGeom>
          <a:solidFill>
            <a:srgbClr val="F0A500"/>
          </a:solidFill>
          <a:ln>
            <a:noFill/>
          </a:ln>
        </p:spPr>
      </p:sp>
      <p:sp>
        <p:nvSpPr>
          <p:cNvPr id="4" name="pipe-head"/>
          <p:cNvSpPr txBox="1"/>
          <p:nvPr/>
        </p:nvSpPr>
        <p:spPr>
          <a:xfrm>
            <a:off x="762000" y="13716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A1A2E"/>
                </a:solidFill>
                <a:latin typeface="MiSans"/>
                <a:ea typeface="MiSans"/>
              </a:rPr>
              <a:t>Discovery-пайплайн: три источника по цепочке, пока не наберётся достаточно</a:t>
            </a:r>
            <a:endParaRPr lang="en-US" sz="1600"/>
          </a:p>
        </p:txBody>
      </p:sp>
      <p:sp>
        <p:nvSpPr>
          <p:cNvPr id="5" name="s1-box"/>
          <p:cNvSpPr/>
          <p:nvPr/>
        </p:nvSpPr>
        <p:spPr>
          <a:xfrm>
            <a:off x="762000" y="1778000"/>
            <a:ext cx="3302000" cy="1092200"/>
          </a:xfrm>
          <a:prstGeom prst="rect">
            <a:avLst/>
          </a:prstGeom>
          <a:solidFill>
            <a:srgbClr val="F5F6F8"/>
          </a:solidFill>
          <a:ln w="12700">
            <a:solidFill>
              <a:srgbClr val="1A1A2E"/>
            </a:solidFill>
          </a:ln>
        </p:spPr>
      </p:sp>
      <p:sp>
        <p:nvSpPr>
          <p:cNvPr id="6" name="s1-tag"/>
          <p:cNvSpPr txBox="1"/>
          <p:nvPr/>
        </p:nvSpPr>
        <p:spPr>
          <a:xfrm>
            <a:off x="914400" y="1879600"/>
            <a:ext cx="299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B97A00"/>
                </a:solidFill>
                <a:latin typeface="MiSans"/>
                <a:ea typeface="MiSans"/>
              </a:rPr>
              <a:t>ИСТОЧНИК 1 · DaData</a:t>
            </a:r>
            <a:endParaRPr lang="en-US" sz="1100"/>
          </a:p>
        </p:txBody>
      </p:sp>
      <p:sp>
        <p:nvSpPr>
          <p:cNvPr id="7" name="s1-txt"/>
          <p:cNvSpPr txBox="1"/>
          <p:nvPr/>
        </p:nvSpPr>
        <p:spPr>
          <a:xfrm>
            <a:off x="914400" y="2133600"/>
            <a:ext cx="29972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Проверенные компании: ИНН, юр. название, адрес, телефон. Бесплатно до 10 000 запросов/день.</a:t>
            </a:r>
            <a:endParaRPr lang="en-US" sz="1100"/>
          </a:p>
        </p:txBody>
      </p:sp>
      <p:sp>
        <p:nvSpPr>
          <p:cNvPr id="8" name="sa1"/>
          <p:cNvSpPr/>
          <p:nvPr>
            <p:extLst>
              <p:ext uri="{F5677B7D-0D2A-4D9B-9A5C-6D8D7D0E5A5D}">
                <pptd:line encoding="base64url">eyJjdXJ2ZSI6InJvdW5kIiwicG9pbnRzIjoiMCwzIDI4LDMiLCJ2aWV3Qm94IjpbMjgsNl19</pptd:line>
              </p:ext>
            </p:extLst>
          </p:nvPr>
        </p:nvSpPr>
        <p:spPr>
          <a:xfrm>
            <a:off x="4089400" y="2260600"/>
            <a:ext cx="355600" cy="76200"/>
          </a:xfrm>
          <a:custGeom>
            <a:avLst/>
            <a:gdLst/>
            <a:ahLst/>
            <a:cxnLst/>
            <a:rect l="l" t="t" r="r" b="b"/>
            <a:pathLst>
              <a:path w="28" h="6">
                <a:moveTo>
                  <a:pt x="0" y="3"/>
                </a:moveTo>
                <a:lnTo>
                  <a:pt x="28" y="3"/>
                </a:lnTo>
              </a:path>
            </a:pathLst>
          </a:custGeom>
          <a:noFill/>
          <a:ln w="25400" cap="rnd">
            <a:solidFill>
              <a:srgbClr val="F0A500"/>
            </a:solidFill>
            <a:round/>
            <a:tailEnd type="arrow"/>
          </a:ln>
        </p:spPr>
      </p:sp>
      <p:sp>
        <p:nvSpPr>
          <p:cNvPr id="9" name="s2-box"/>
          <p:cNvSpPr/>
          <p:nvPr/>
        </p:nvSpPr>
        <p:spPr>
          <a:xfrm>
            <a:off x="4470400" y="1778000"/>
            <a:ext cx="3302000" cy="109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</p:sp>
      <p:sp>
        <p:nvSpPr>
          <p:cNvPr id="10" name="s2-tag"/>
          <p:cNvSpPr txBox="1"/>
          <p:nvPr/>
        </p:nvSpPr>
        <p:spPr>
          <a:xfrm>
            <a:off x="4622800" y="1879600"/>
            <a:ext cx="299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64748B"/>
                </a:solidFill>
                <a:latin typeface="MiSans"/>
                <a:ea typeface="MiSans"/>
              </a:rPr>
              <a:t>ИСТОЧНИК 2 · Яндекс.Поиск</a:t>
            </a:r>
            <a:endParaRPr lang="en-US" sz="1100"/>
          </a:p>
        </p:txBody>
      </p:sp>
      <p:sp>
        <p:nvSpPr>
          <p:cNvPr id="11" name="s2-txt"/>
          <p:cNvSpPr txBox="1"/>
          <p:nvPr/>
        </p:nvSpPr>
        <p:spPr>
          <a:xfrm>
            <a:off x="4622800" y="2133600"/>
            <a:ext cx="29972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Поиск сайтов поставщиков по запросу «материал + город», LLM извлекает компании из результатов.</a:t>
            </a:r>
            <a:endParaRPr lang="en-US" sz="1100"/>
          </a:p>
        </p:txBody>
      </p:sp>
      <p:sp>
        <p:nvSpPr>
          <p:cNvPr id="12" name="sa2"/>
          <p:cNvSpPr/>
          <p:nvPr>
            <p:extLst>
              <p:ext uri="{F5677B7D-0D2A-4D9B-9A5C-6D8D7D0E5A5D}">
                <pptd:line encoding="base64url">eyJjdXJ2ZSI6InJvdW5kIiwicG9pbnRzIjoiMCwzIDI4LDMiLCJ2aWV3Qm94IjpbMjgsNl19</pptd:line>
              </p:ext>
            </p:extLst>
          </p:nvPr>
        </p:nvSpPr>
        <p:spPr>
          <a:xfrm>
            <a:off x="7797800" y="2260600"/>
            <a:ext cx="355600" cy="76200"/>
          </a:xfrm>
          <a:custGeom>
            <a:avLst/>
            <a:gdLst/>
            <a:ahLst/>
            <a:cxnLst/>
            <a:rect l="l" t="t" r="r" b="b"/>
            <a:pathLst>
              <a:path w="28" h="6">
                <a:moveTo>
                  <a:pt x="0" y="3"/>
                </a:moveTo>
                <a:lnTo>
                  <a:pt x="28" y="3"/>
                </a:lnTo>
              </a:path>
            </a:pathLst>
          </a:custGeom>
          <a:noFill/>
          <a:ln w="25400" cap="rnd">
            <a:solidFill>
              <a:srgbClr val="F0A500"/>
            </a:solidFill>
            <a:round/>
            <a:tailEnd type="arrow"/>
          </a:ln>
        </p:spPr>
      </p:sp>
      <p:sp>
        <p:nvSpPr>
          <p:cNvPr id="13" name="s3-box"/>
          <p:cNvSpPr/>
          <p:nvPr/>
        </p:nvSpPr>
        <p:spPr>
          <a:xfrm>
            <a:off x="8178800" y="1778000"/>
            <a:ext cx="3505200" cy="109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</p:sp>
      <p:sp>
        <p:nvSpPr>
          <p:cNvPr id="14" name="s3-tag"/>
          <p:cNvSpPr txBox="1"/>
          <p:nvPr/>
        </p:nvSpPr>
        <p:spPr>
          <a:xfrm>
            <a:off x="8331200" y="1879600"/>
            <a:ext cx="3200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64748B"/>
                </a:solidFill>
                <a:latin typeface="MiSans"/>
                <a:ea typeface="MiSans"/>
              </a:rPr>
              <a:t>ИСТОЧНИК 3 · Знания LLM</a:t>
            </a:r>
            <a:endParaRPr lang="en-US" sz="1100"/>
          </a:p>
        </p:txBody>
      </p:sp>
      <p:sp>
        <p:nvSpPr>
          <p:cNvPr id="15" name="s3-txt"/>
          <p:cNvSpPr txBox="1"/>
          <p:nvPr/>
        </p:nvSpPr>
        <p:spPr>
          <a:xfrm>
            <a:off x="8331200" y="2133600"/>
            <a:ext cx="3200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DeepSeek называет реальные компании из обучающих данных. Метка source=llm — требует верификации.</a:t>
            </a:r>
            <a:endParaRPr lang="en-US" sz="1100"/>
          </a:p>
        </p:txBody>
      </p:sp>
      <p:sp>
        <p:nvSpPr>
          <p:cNvPr id="16" name="dedupe"/>
          <p:cNvSpPr txBox="1"/>
          <p:nvPr/>
        </p:nvSpPr>
        <p:spPr>
          <a:xfrm>
            <a:off x="762000" y="3048000"/>
            <a:ext cx="1092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250">
                <a:solidFill>
                  <a:srgbClr val="333A47"/>
                </a:solidFill>
                <a:latin typeface="MiSans"/>
                <a:ea typeface="MiSans"/>
              </a:rPr>
              <a:t>Дедупликация по имени и сайту → создание Supplier + адрес + привязка к категории заявки. Каждый источник помечается: </a:t>
            </a:r>
            <a:r>
              <a:rPr lang="en-US" sz="1250" b="1">
                <a:solidFill>
                  <a:srgbClr val="333A47"/>
                </a:solidFill>
                <a:latin typeface="MiSans"/>
                <a:ea typeface="MiSans"/>
              </a:rPr>
              <a:t>seed / dadata / web / llm</a:t>
            </a:r>
            <a:r>
              <a:rPr lang="en-US" sz="1250">
                <a:solidFill>
                  <a:srgbClr val="333A47"/>
                </a:solidFill>
                <a:latin typeface="MiSans"/>
                <a:ea typeface="MiSans"/>
              </a:rPr>
              <a:t> — видно, кому доверять.</a:t>
            </a:r>
            <a:endParaRPr lang="en-US" sz="1250"/>
          </a:p>
        </p:txBody>
      </p:sp>
      <p:sp>
        <p:nvSpPr>
          <p:cNvPr id="17" name="bottom-rule"/>
          <p:cNvSpPr/>
          <p:nvPr/>
        </p:nvSpPr>
        <p:spPr>
          <a:xfrm>
            <a:off x="762000" y="3708400"/>
            <a:ext cx="10668000" cy="12700"/>
          </a:xfrm>
          <a:prstGeom prst="rect">
            <a:avLst/>
          </a:prstGeom>
          <a:solidFill>
            <a:srgbClr val="D9DEE6"/>
          </a:solidFill>
          <a:ln>
            <a:noFill/>
          </a:ln>
        </p:spPr>
      </p:sp>
      <p:sp>
        <p:nvSpPr>
          <p:cNvPr id="18" name="enr-head"/>
          <p:cNvSpPr txBox="1"/>
          <p:nvPr/>
        </p:nvSpPr>
        <p:spPr>
          <a:xfrm>
            <a:off x="762000" y="3937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A1A2E"/>
                </a:solidFill>
                <a:latin typeface="MiSans"/>
                <a:ea typeface="MiSans"/>
              </a:rPr>
              <a:t>Обогащение: профиль → рабочий скоринг</a:t>
            </a:r>
            <a:endParaRPr lang="en-US" sz="1600"/>
          </a:p>
        </p:txBody>
      </p:sp>
      <p:sp>
        <p:nvSpPr>
          <p:cNvPr id="19" name="enr-body"/>
          <p:cNvSpPr txBox="1"/>
          <p:nvPr/>
        </p:nvSpPr>
        <p:spPr>
          <a:xfrm>
            <a:off x="762000" y="4292600"/>
            <a:ext cx="6350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Для каждого поставщика заполняется:</a:t>
            </a:r>
            <a:endParaRPr lang="en-US" sz="130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— </a:t>
            </a: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material_types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: конкретные типы материалов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— </a:t>
            </a: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product_keywords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и описание ассортимента (скрапинг сайта → LLM, либо по категориям)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— верификация через DaData: ИНН, юр. название</a:t>
            </a:r>
            <a:endParaRPr lang="en-US" sz="130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Без этого фильтр по ассортименту и бонусы скоринга не работают — сейчас заполнено у всех 35 поставщиков.</a:t>
            </a:r>
            <a:endParaRPr lang="en-US" sz="1300"/>
          </a:p>
        </p:txBody>
      </p:sp>
      <p:sp>
        <p:nvSpPr>
          <p:cNvPr id="20" name="stat-head"/>
          <p:cNvSpPr txBox="1"/>
          <p:nvPr/>
        </p:nvSpPr>
        <p:spPr>
          <a:xfrm>
            <a:off x="7620000" y="3937000"/>
            <a:ext cx="406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A1A2E"/>
                </a:solidFill>
                <a:latin typeface="MiSans"/>
                <a:ea typeface="MiSans"/>
              </a:rPr>
              <a:t>Текущее состояние базы</a:t>
            </a:r>
            <a:endParaRPr lang="en-US" sz="1600"/>
          </a:p>
        </p:txBody>
      </p:sp>
      <p:sp>
        <p:nvSpPr>
          <p:cNvPr id="21" name="stat-body"/>
          <p:cNvSpPr txBox="1"/>
          <p:nvPr/>
        </p:nvSpPr>
        <p:spPr>
          <a:xfrm>
            <a:off x="7620000" y="4292600"/>
            <a:ext cx="4064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00" b="1">
                <a:solidFill>
                  <a:srgbClr val="64748B"/>
                </a:solidFill>
                <a:latin typeface="MiSans"/>
                <a:ea typeface="MiSans"/>
              </a:rPr>
              <a:t>35</a:t>
            </a: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 поставщиков, все активны</a:t>
            </a:r>
            <a:endParaRPr lang="en-US" sz="1100"/>
          </a:p>
          <a:p>
            <a:pPr>
              <a:lnSpc>
                <a:spcPct val="135000"/>
              </a:lnSpc>
            </a:pPr>
            <a:r>
              <a:rPr lang="en-US" sz="1100" b="1">
                <a:solidFill>
                  <a:srgbClr val="64748B"/>
                </a:solidFill>
                <a:latin typeface="MiSans"/>
                <a:ea typeface="MiSans"/>
              </a:rPr>
              <a:t>35/35</a:t>
            </a: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 с material_types и keywords</a:t>
            </a:r>
            <a:endParaRPr lang="en-US" sz="1100"/>
          </a:p>
          <a:p>
            <a:pPr>
              <a:lnSpc>
                <a:spcPct val="135000"/>
              </a:lnSpc>
            </a:pPr>
            <a:r>
              <a:rPr lang="en-US" sz="1100" b="1">
                <a:solidFill>
                  <a:srgbClr val="64748B"/>
                </a:solidFill>
                <a:latin typeface="MiSans"/>
                <a:ea typeface="MiSans"/>
              </a:rPr>
              <a:t>13</a:t>
            </a: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 производителей</a:t>
            </a:r>
            <a:endParaRPr lang="en-US" sz="1100"/>
          </a:p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города: Москва и МО, СПб, Пенза, Иркутск, Екатеринбург, Челябинск, Краснодар и др.</a:t>
            </a:r>
            <a:endParaRPr lang="en-US" sz="1100"/>
          </a:p>
        </p:txBody>
      </p:sp>
      <p:sp>
        <p:nvSpPr>
          <p:cNvPr id="22" name="footer"/>
          <p:cNvSpPr txBox="1"/>
          <p:nvPr/>
        </p:nvSpPr>
        <p:spPr>
          <a:xfrm>
            <a:off x="762000" y="64135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Минитендер.рф · v1.0.0</a:t>
            </a:r>
            <a:endParaRPr lang="en-US" sz="1100"/>
          </a:p>
        </p:txBody>
      </p:sp>
      <p:sp>
        <p:nvSpPr>
          <p:cNvPr id="23" name="pagenum"/>
          <p:cNvSpPr txBox="1"/>
          <p:nvPr/>
        </p:nvSpPr>
        <p:spPr>
          <a:xfrm>
            <a:off x="11176000" y="64135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r"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10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62000" y="4572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A1A2E"/>
                </a:solidFill>
                <a:latin typeface="MiSans"/>
                <a:ea typeface="MiSans"/>
              </a:rPr>
              <a:t>Проверено в работе: сквозные сценарии 30.07.2026</a:t>
            </a:r>
            <a:endParaRPr lang="en-US" sz="2700"/>
          </a:p>
        </p:txBody>
      </p:sp>
      <p:sp>
        <p:nvSpPr>
          <p:cNvPr id="3" name="title-bar"/>
          <p:cNvSpPr/>
          <p:nvPr/>
        </p:nvSpPr>
        <p:spPr>
          <a:xfrm>
            <a:off x="762000" y="1016000"/>
            <a:ext cx="609600" cy="38100"/>
          </a:xfrm>
          <a:prstGeom prst="rect">
            <a:avLst/>
          </a:prstGeom>
          <a:solidFill>
            <a:srgbClr val="F0A500"/>
          </a:solidFill>
          <a:ln>
            <a:noFill/>
          </a:ln>
        </p:spPr>
      </p:sp>
      <p:sp>
        <p:nvSpPr>
          <p:cNvPr id="4" name="tenders-head"/>
          <p:cNvSpPr txBox="1"/>
          <p:nvPr/>
        </p:nvSpPr>
        <p:spPr>
          <a:xfrm>
            <a:off x="762000" y="13462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A1A2E"/>
                </a:solidFill>
                <a:latin typeface="MiSans"/>
                <a:ea typeface="MiSans"/>
              </a:rPr>
              <a:t>Три реальных тендера: парсинг → подбор → производитель на первом месте</a:t>
            </a:r>
            <a:endParaRPr lang="en-US" sz="1600"/>
          </a:p>
        </p:txBody>
      </p:sp>
      <p:graphicFrame>
        <p:nvGraphicFramePr>
          <p:cNvPr id="5" name="tenders-table"/>
          <p:cNvGraphicFramePr>
            <a:graphicFrameLocks noGrp="1"/>
          </p:cNvGraphicFramePr>
          <p:nvPr/>
        </p:nvGraphicFramePr>
        <p:xfrm>
          <a:off x="762000" y="1727200"/>
          <a:ext cx="10922000" cy="1905000"/>
        </p:xfrm>
        <a:graphic>
          <a:graphicData uri="http://schemas.openxmlformats.org/drawingml/2006/table">
            <a:tbl>
              <a:tblPr/>
              <a:tblGrid>
                <a:gridCol w="3713480"/>
                <a:gridCol w="1638300"/>
                <a:gridCol w="3713480"/>
                <a:gridCol w="1856740"/>
              </a:tblGrid>
              <a:tr h="476250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</a:rPr>
                        <a:t>Заявка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A1A2E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</a:rPr>
                        <a:t>Город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A1A2E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</a:rPr>
                        <a:t>Победитель подбора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A1A2E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</a:rPr>
                        <a:t>Балл · км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A1A2E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476250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Брусчатка 200×100×60 серая — 200 м²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Подольск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ООО «ЮгБрусчатка» · производитель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135.1 · 2.7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</a:tr>
              <a:tr h="476250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Резиновая плитка 600×600 — 150 м²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Пенза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ООО «ПензаРезПлит» · производитель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135.3 · 1.8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</a:tr>
              <a:tr h="476250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Бетон М200 — 50 м³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Иркутск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ООО «ИркутскБетон» · производитель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135.0 · 2.6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checks-head"/>
          <p:cNvSpPr txBox="1"/>
          <p:nvPr/>
        </p:nvSpPr>
        <p:spPr>
          <a:xfrm>
            <a:off x="762000" y="39370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A1A2E"/>
                </a:solidFill>
                <a:latin typeface="MiSans"/>
                <a:ea typeface="MiSans"/>
              </a:rPr>
              <a:t>Полный цикл и инфраструктура</a:t>
            </a:r>
            <a:endParaRPr lang="en-US" sz="1600"/>
          </a:p>
        </p:txBody>
      </p:sp>
      <p:sp>
        <p:nvSpPr>
          <p:cNvPr id="7" name="checks-body"/>
          <p:cNvSpPr txBox="1"/>
          <p:nvPr/>
        </p:nvSpPr>
        <p:spPr>
          <a:xfrm>
            <a:off x="762000" y="4318000"/>
            <a:ext cx="71120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300" b="1">
                <a:solidFill>
                  <a:srgbClr val="1E9E57"/>
                </a:solidFill>
                <a:latin typeface="MiSans"/>
                <a:ea typeface="MiSans"/>
              </a:rPr>
              <a:t>✓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API-цикл: создание → парсинг → подбор → RFQ → КП → конкурентный лист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 b="1">
                <a:solidFill>
                  <a:srgbClr val="1E9E57"/>
                </a:solidFill>
                <a:latin typeface="MiSans"/>
                <a:ea typeface="MiSans"/>
              </a:rPr>
              <a:t>✓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Письмо через SMTP BeGet — статус sent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 b="1">
                <a:solidFill>
                  <a:srgbClr val="1E9E57"/>
                </a:solidFill>
                <a:latin typeface="MiSans"/>
                <a:ea typeface="MiSans"/>
              </a:rPr>
              <a:t>✓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Публичная форма КП: GET позиций, POST цен, повторное редактирование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 b="1">
                <a:solidFill>
                  <a:srgbClr val="1E9E57"/>
                </a:solidFill>
                <a:latin typeface="MiSans"/>
                <a:ea typeface="MiSans"/>
              </a:rPr>
              <a:t>✓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Автотесты backend: 30/30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 b="1">
                <a:solidFill>
                  <a:srgbClr val="1E9E57"/>
                </a:solidFill>
                <a:latin typeface="MiSans"/>
                <a:ea typeface="MiSans"/>
              </a:rPr>
              <a:t>✓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Сборка фронта: 12 страниц, все отвечают 200</a:t>
            </a:r>
            <a:endParaRPr lang="en-US" sz="1300"/>
          </a:p>
          <a:p>
            <a:pPr>
              <a:lnSpc>
                <a:spcPct val="145000"/>
              </a:lnSpc>
            </a:pPr>
            <a:r>
              <a:rPr lang="en-US" sz="1300" b="1">
                <a:solidFill>
                  <a:srgbClr val="1E9E57"/>
                </a:solidFill>
                <a:latin typeface="MiSans"/>
                <a:ea typeface="MiSans"/>
              </a:rPr>
              <a:t>✓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Геокодер, DaData, DeepSeek, 2GIS — живые вызовы</a:t>
            </a:r>
            <a:endParaRPr lang="en-US" sz="1300"/>
          </a:p>
        </p:txBody>
      </p:sp>
      <p:sp>
        <p:nvSpPr>
          <p:cNvPr id="8" name="note-box"/>
          <p:cNvSpPr txBox="1"/>
          <p:nvPr/>
        </p:nvSpPr>
        <p:spPr>
          <a:xfrm>
            <a:off x="8382000" y="4318000"/>
            <a:ext cx="33020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00" b="1">
                <a:solidFill>
                  <a:srgbClr val="64748B"/>
                </a:solidFill>
                <a:latin typeface="MiSans"/>
                <a:ea typeface="MiSans"/>
              </a:rPr>
              <a:t>Границы проверки:</a:t>
            </a:r>
            <a:endParaRPr lang="en-US" sz="1100"/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Демо-поставщики в новых городах — тестовые записи с пометкой seed.</a:t>
            </a:r>
            <a:endParaRPr lang="en-US" sz="1100"/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Входящие ответы поставщиков по email требуют настройки MX-записи — см. дорожную карту.</a:t>
            </a:r>
            <a:endParaRPr lang="en-US" sz="1100"/>
          </a:p>
        </p:txBody>
      </p:sp>
      <p:sp>
        <p:nvSpPr>
          <p:cNvPr id="9" name="footer"/>
          <p:cNvSpPr txBox="1"/>
          <p:nvPr/>
        </p:nvSpPr>
        <p:spPr>
          <a:xfrm>
            <a:off x="762000" y="64135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Минитендер.рф · v1.0.0</a:t>
            </a:r>
            <a:endParaRPr lang="en-US" sz="1100"/>
          </a:p>
        </p:txBody>
      </p:sp>
      <p:sp>
        <p:nvSpPr>
          <p:cNvPr id="10" name="pagenum"/>
          <p:cNvSpPr txBox="1"/>
          <p:nvPr/>
        </p:nvSpPr>
        <p:spPr>
          <a:xfrm>
            <a:off x="11176000" y="64135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r"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11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62000" y="4572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A1A2E"/>
                </a:solidFill>
                <a:latin typeface="MiSans"/>
                <a:ea typeface="MiSans"/>
              </a:rPr>
              <a:t>Запуск и конфигурация</a:t>
            </a:r>
            <a:endParaRPr lang="en-US" sz="2700"/>
          </a:p>
        </p:txBody>
      </p:sp>
      <p:sp>
        <p:nvSpPr>
          <p:cNvPr id="3" name="title-bar"/>
          <p:cNvSpPr/>
          <p:nvPr/>
        </p:nvSpPr>
        <p:spPr>
          <a:xfrm>
            <a:off x="762000" y="1016000"/>
            <a:ext cx="609600" cy="38100"/>
          </a:xfrm>
          <a:prstGeom prst="rect">
            <a:avLst/>
          </a:prstGeom>
          <a:solidFill>
            <a:srgbClr val="F0A500"/>
          </a:solidFill>
          <a:ln>
            <a:noFill/>
          </a:ln>
        </p:spPr>
      </p:sp>
      <p:sp>
        <p:nvSpPr>
          <p:cNvPr id="4" name="run-head"/>
          <p:cNvSpPr txBox="1"/>
          <p:nvPr/>
        </p:nvSpPr>
        <p:spPr>
          <a:xfrm>
            <a:off x="762000" y="1371600"/>
            <a:ext cx="5461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A1A2E"/>
                </a:solidFill>
                <a:latin typeface="MiSans"/>
                <a:ea typeface="MiSans"/>
              </a:rPr>
              <a:t>Одна команда — оба сервера</a:t>
            </a:r>
            <a:endParaRPr lang="en-US" sz="1600"/>
          </a:p>
        </p:txBody>
      </p:sp>
      <p:sp>
        <p:nvSpPr>
          <p:cNvPr id="5" name="run-code"/>
          <p:cNvSpPr txBox="1"/>
          <p:nvPr/>
        </p:nvSpPr>
        <p:spPr>
          <a:xfrm>
            <a:off x="762000" y="1752600"/>
            <a:ext cx="5461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60000"/>
              </a:lnSpc>
            </a:pPr>
            <a:r>
              <a:rPr lang="en-US" sz="1400">
                <a:solidFill>
                  <a:srgbClr val="1A1A2E"/>
                </a:solidFill>
                <a:latin typeface="Consolas"/>
                <a:ea typeface="Consolas"/>
              </a:rPr>
              <a:t>python start.py</a:t>
            </a:r>
            <a:endParaRPr lang="en-US" sz="1400"/>
          </a:p>
          <a:p>
            <a:pPr>
              <a:lnSpc>
                <a:spcPct val="160000"/>
              </a:lnSpc>
            </a:pPr>
            <a:r>
              <a:rPr lang="en-US" sz="1400">
                <a:solidFill>
                  <a:srgbClr val="64748B"/>
                </a:solidFill>
                <a:latin typeface="Consolas"/>
                <a:ea typeface="Consolas"/>
              </a:rPr>
              <a:t># или prod-режим:</a:t>
            </a:r>
            <a:endParaRPr lang="en-US" sz="1400"/>
          </a:p>
          <a:p>
            <a:pPr>
              <a:lnSpc>
                <a:spcPct val="160000"/>
              </a:lnSpc>
            </a:pPr>
            <a:r>
              <a:rPr lang="en-US" sz="1400">
                <a:solidFill>
                  <a:srgbClr val="1A1A2E"/>
                </a:solidFill>
                <a:latin typeface="Consolas"/>
                <a:ea typeface="Consolas"/>
              </a:rPr>
              <a:t>python start.py --prod</a:t>
            </a:r>
            <a:endParaRPr lang="en-US" sz="1400"/>
          </a:p>
        </p:txBody>
      </p:sp>
      <p:sp>
        <p:nvSpPr>
          <p:cNvPr id="6" name="run-body"/>
          <p:cNvSpPr txBox="1"/>
          <p:nvPr/>
        </p:nvSpPr>
        <p:spPr>
          <a:xfrm>
            <a:off x="762000" y="3149600"/>
            <a:ext cx="5461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Поднимаются Django :8000 и Next.js :3000, скрипт ждёт готовности обоих и показывает статус. Enter или Ctrl+C — корректная остановка.</a:t>
            </a:r>
            <a:endParaRPr lang="en-US" sz="1300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Сайт: </a:t>
            </a: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localhost:3000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· API: </a:t>
            </a: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localhost:8000/api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· Админка: </a:t>
            </a: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/admin</a:t>
            </a:r>
            <a:endParaRPr lang="en-US" sz="1300"/>
          </a:p>
        </p:txBody>
      </p:sp>
      <p:sp>
        <p:nvSpPr>
          <p:cNvPr id="7" name="keys-head"/>
          <p:cNvSpPr txBox="1"/>
          <p:nvPr/>
        </p:nvSpPr>
        <p:spPr>
          <a:xfrm>
            <a:off x="6731000" y="1371600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A1A2E"/>
                </a:solidFill>
                <a:latin typeface="MiSans"/>
                <a:ea typeface="MiSans"/>
              </a:rPr>
              <a:t>Ключи в .env — все подключены</a:t>
            </a:r>
            <a:endParaRPr lang="en-US" sz="1600"/>
          </a:p>
        </p:txBody>
      </p:sp>
      <p:graphicFrame>
        <p:nvGraphicFramePr>
          <p:cNvPr id="8" name="keys-table"/>
          <p:cNvGraphicFramePr>
            <a:graphicFrameLocks noGrp="1"/>
          </p:cNvGraphicFramePr>
          <p:nvPr/>
        </p:nvGraphicFramePr>
        <p:xfrm>
          <a:off x="6731000" y="1752600"/>
          <a:ext cx="4953000" cy="2794000"/>
        </p:xfrm>
        <a:graphic>
          <a:graphicData uri="http://schemas.openxmlformats.org/drawingml/2006/table">
            <a:tbl>
              <a:tblPr/>
              <a:tblGrid>
                <a:gridCol w="2278380"/>
                <a:gridCol w="2674620"/>
              </a:tblGrid>
              <a:tr h="474980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</a:rPr>
                        <a:t>Ключ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A1A2E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 b="1">
                          <a:solidFill>
                            <a:srgbClr val="1A1A2E"/>
                          </a:solidFill>
                          <a:latin typeface="Times New Roman"/>
                          <a:ea typeface="Times New Roman"/>
                        </a:rPr>
                        <a:t>Назначение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A1A2E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463804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LLM_API_KEY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DeepSeek — парсинг, поиск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</a:tr>
              <a:tr h="463804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DADATA_TOKEN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верификация компаний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</a:tr>
              <a:tr h="463804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NEXT_PUBLIC_2GIS_KEY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карта на фронте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</a:tr>
              <a:tr h="463804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YANDEX_GEOCODER_KEY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геокодинг адресов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</a:tr>
              <a:tr h="463804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EMAIL_HOST_PASSWORD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200">
                          <a:solidFill>
                            <a:srgbClr val="333A47"/>
                          </a:solidFill>
                          <a:latin typeface="Times New Roman"/>
                          <a:ea typeface="Times New Roman"/>
                        </a:rPr>
                        <a:t>SMTP — рассылка RFQ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EE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bottom-rule"/>
          <p:cNvSpPr/>
          <p:nvPr/>
        </p:nvSpPr>
        <p:spPr>
          <a:xfrm>
            <a:off x="762000" y="5029200"/>
            <a:ext cx="10668000" cy="12700"/>
          </a:xfrm>
          <a:prstGeom prst="rect">
            <a:avLst/>
          </a:prstGeom>
          <a:solidFill>
            <a:srgbClr val="D9DEE6"/>
          </a:solidFill>
          <a:ln>
            <a:noFill/>
          </a:ln>
        </p:spPr>
      </p:sp>
      <p:sp>
        <p:nvSpPr>
          <p:cNvPr id="10" name="bottom-note"/>
          <p:cNvSpPr txBox="1"/>
          <p:nvPr/>
        </p:nvSpPr>
        <p:spPr>
          <a:xfrm>
            <a:off x="762000" y="5207000"/>
            <a:ext cx="10668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Деградация без ключей предусмотрена: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нет LLM — regex-парсер; нет DaData — поиск через Yandex + LLM; нет ключа геокодера — координаты с карты 2GIS; нет SMTP-пароля — заявка честно остаётся в matched, ошибка показывается пользователю.</a:t>
            </a:r>
            <a:endParaRPr lang="en-US" sz="1300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Демо-вход: </a:t>
            </a: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dev@test.com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· создание пользователя — backend/create_user.py (вне релиза).</a:t>
            </a:r>
            <a:endParaRPr lang="en-US" sz="1300"/>
          </a:p>
        </p:txBody>
      </p:sp>
      <p:sp>
        <p:nvSpPr>
          <p:cNvPr id="11" name="footer"/>
          <p:cNvSpPr txBox="1"/>
          <p:nvPr/>
        </p:nvSpPr>
        <p:spPr>
          <a:xfrm>
            <a:off x="762000" y="64135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Минитендер.рф · v1.0.0</a:t>
            </a:r>
            <a:endParaRPr lang="en-US" sz="1100"/>
          </a:p>
        </p:txBody>
      </p:sp>
      <p:sp>
        <p:nvSpPr>
          <p:cNvPr id="12" name="pagenum"/>
          <p:cNvSpPr txBox="1"/>
          <p:nvPr/>
        </p:nvSpPr>
        <p:spPr>
          <a:xfrm>
            <a:off x="11176000" y="64135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r"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12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62000" y="4572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1A1A2E"/>
                </a:solidFill>
                <a:latin typeface="MiSans"/>
                <a:ea typeface="MiSans"/>
              </a:rPr>
              <a:t>Что дальше: дорожная карта после релиза</a:t>
            </a:r>
            <a:endParaRPr lang="en-US" sz="2700"/>
          </a:p>
        </p:txBody>
      </p:sp>
      <p:sp>
        <p:nvSpPr>
          <p:cNvPr id="3" name="title-bar"/>
          <p:cNvSpPr/>
          <p:nvPr/>
        </p:nvSpPr>
        <p:spPr>
          <a:xfrm>
            <a:off x="762000" y="1016000"/>
            <a:ext cx="609600" cy="38100"/>
          </a:xfrm>
          <a:prstGeom prst="rect">
            <a:avLst/>
          </a:prstGeom>
          <a:solidFill>
            <a:srgbClr val="F0A500"/>
          </a:solidFill>
          <a:ln>
            <a:noFill/>
          </a:ln>
        </p:spPr>
      </p:sp>
      <p:sp>
        <p:nvSpPr>
          <p:cNvPr id="4" name="near-head"/>
          <p:cNvSpPr txBox="1"/>
          <p:nvPr/>
        </p:nvSpPr>
        <p:spPr>
          <a:xfrm>
            <a:off x="762000" y="13970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A1A2E"/>
                </a:solidFill>
                <a:latin typeface="MiSans"/>
                <a:ea typeface="MiSans"/>
              </a:rPr>
              <a:t>Ближайшие шаги</a:t>
            </a:r>
            <a:endParaRPr lang="en-US" sz="1600"/>
          </a:p>
        </p:txBody>
      </p:sp>
      <p:sp>
        <p:nvSpPr>
          <p:cNvPr id="5" name="near-body"/>
          <p:cNvSpPr txBox="1"/>
          <p:nvPr/>
        </p:nvSpPr>
        <p:spPr>
          <a:xfrm>
            <a:off x="762000" y="1778000"/>
            <a:ext cx="53340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1. Приём ответов по email.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MX-запись для in.минитендер.рф + обработчик входящих — тогда КП из писем будут попадать в систему автоматически.</a:t>
            </a:r>
            <a:endParaRPr lang="en-US" sz="1300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2. Реальные поставщики в новых регионах.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Запуск discovery-пайплайна по категориям с верификацией DaData.</a:t>
            </a:r>
            <a:endParaRPr lang="en-US" sz="1300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3. Асинхронность.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Celery + Redis: парсинг и рассылка в фоне, без ожидания в интерфейсе.</a:t>
            </a:r>
            <a:endParaRPr lang="en-US" sz="1300"/>
          </a:p>
        </p:txBody>
      </p:sp>
      <p:sp>
        <p:nvSpPr>
          <p:cNvPr id="6" name="far-head"/>
          <p:cNvSpPr txBox="1"/>
          <p:nvPr/>
        </p:nvSpPr>
        <p:spPr>
          <a:xfrm>
            <a:off x="6731000" y="1397000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1A1A2E"/>
                </a:solidFill>
                <a:latin typeface="MiSans"/>
                <a:ea typeface="MiSans"/>
              </a:rPr>
              <a:t>Прод-контур</a:t>
            </a:r>
            <a:endParaRPr lang="en-US" sz="1600"/>
          </a:p>
        </p:txBody>
      </p:sp>
      <p:sp>
        <p:nvSpPr>
          <p:cNvPr id="7" name="far-body"/>
          <p:cNvSpPr txBox="1"/>
          <p:nvPr/>
        </p:nvSpPr>
        <p:spPr>
          <a:xfrm>
            <a:off x="6731000" y="1778000"/>
            <a:ext cx="49530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4. PostgreSQL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вместо SQLite, миграция данных.</a:t>
            </a:r>
            <a:endParaRPr lang="en-US" sz="1300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5. Модерация поставщиков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— очередь на проверку для source=llm.</a:t>
            </a:r>
            <a:endParaRPr lang="en-US" sz="1300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300" b="1">
                <a:solidFill>
                  <a:srgbClr val="333A47"/>
                </a:solidFill>
                <a:latin typeface="MiSans"/>
                <a:ea typeface="MiSans"/>
              </a:rPr>
              <a:t>6. Деплой</a:t>
            </a:r>
            <a:r>
              <a:rPr lang="en-US" sz="1300">
                <a:solidFill>
                  <a:srgbClr val="333A47"/>
                </a:solidFill>
                <a:latin typeface="MiSans"/>
                <a:ea typeface="MiSans"/>
              </a:rPr>
              <a:t> по DEPLOY.md: Docker Compose, nginx, TLS.</a:t>
            </a:r>
            <a:endParaRPr lang="en-US" sz="1300"/>
          </a:p>
        </p:txBody>
      </p:sp>
      <p:sp>
        <p:nvSpPr>
          <p:cNvPr id="8" name="divider-v"/>
          <p:cNvSpPr/>
          <p:nvPr/>
        </p:nvSpPr>
        <p:spPr>
          <a:xfrm>
            <a:off x="6350000" y="1397000"/>
            <a:ext cx="12700" cy="2921000"/>
          </a:xfrm>
          <a:prstGeom prst="rect">
            <a:avLst/>
          </a:prstGeom>
          <a:solidFill>
            <a:srgbClr val="D9DEE6"/>
          </a:solidFill>
          <a:ln>
            <a:noFill/>
          </a:ln>
        </p:spPr>
      </p:sp>
      <p:sp>
        <p:nvSpPr>
          <p:cNvPr id="9" name="bottom-rule"/>
          <p:cNvSpPr/>
          <p:nvPr/>
        </p:nvSpPr>
        <p:spPr>
          <a:xfrm>
            <a:off x="762000" y="4775200"/>
            <a:ext cx="10668000" cy="12700"/>
          </a:xfrm>
          <a:prstGeom prst="rect">
            <a:avLst/>
          </a:prstGeom>
          <a:solidFill>
            <a:srgbClr val="D9DEE6"/>
          </a:solidFill>
          <a:ln>
            <a:noFill/>
          </a:ln>
        </p:spPr>
      </p:sp>
      <p:sp>
        <p:nvSpPr>
          <p:cNvPr id="10" name="final-note"/>
          <p:cNvSpPr txBox="1"/>
          <p:nvPr/>
        </p:nvSpPr>
        <p:spPr>
          <a:xfrm>
            <a:off x="762000" y="50546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500" b="1">
                <a:solidFill>
                  <a:srgbClr val="1A1A2E"/>
                </a:solidFill>
                <a:latin typeface="MiSans"/>
                <a:ea typeface="MiSans"/>
              </a:rPr>
              <a:t>Релиз v1.0.0 — рабочий:</a:t>
            </a:r>
            <a:r>
              <a:rPr lang="en-US" sz="1500">
                <a:solidFill>
                  <a:srgbClr val="1A1A2E"/>
                </a:solidFill>
                <a:latin typeface="MiSans"/>
                <a:ea typeface="MiSans"/>
              </a:rPr>
              <a:t> заявка своими словами превращается в тендер с живыми письмами, онлайн-КП и конкурентным листом. Каждый шаг проверен сквозными сценариями на реальных сервисах.</a:t>
            </a:r>
            <a:endParaRPr lang="en-US" sz="1500"/>
          </a:p>
        </p:txBody>
      </p:sp>
      <p:sp>
        <p:nvSpPr>
          <p:cNvPr id="11" name="footer"/>
          <p:cNvSpPr txBox="1"/>
          <p:nvPr/>
        </p:nvSpPr>
        <p:spPr>
          <a:xfrm>
            <a:off x="762000" y="64135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Минитендер.рф · v1.0.0 · 30.07.2026</a:t>
            </a:r>
            <a:endParaRPr lang="en-US" sz="1100"/>
          </a:p>
        </p:txBody>
      </p:sp>
      <p:sp>
        <p:nvSpPr>
          <p:cNvPr id="12" name="pagenum"/>
          <p:cNvSpPr txBox="1"/>
          <p:nvPr/>
        </p:nvSpPr>
        <p:spPr>
          <a:xfrm>
            <a:off x="11176000" y="64135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r">
              <a:lnSpc>
                <a:spcPct val="135000"/>
              </a:lnSpc>
            </a:pPr>
            <a:r>
              <a:rPr lang="en-US" sz="1100">
                <a:solidFill>
                  <a:srgbClr val="64748B"/>
                </a:solidFill>
                <a:latin typeface="MiSans"/>
                <a:ea typeface="MiSans"/>
              </a:rPr>
              <a:t>13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Slides>13</Slides>
</Properties>
</file>

<file path=docProps/core.xml><?xml version="1.0" encoding="utf-8"?>
<cp:coreProperties xmlns:cp="http://schemas.openxmlformats.org/package/2006/metadata/core-properties" xmlns:dc="http://purl.org/dc/elements/1.1/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/>
  </property>
</Properties>
</file>